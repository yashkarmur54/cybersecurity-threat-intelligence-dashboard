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3B07351F-06E7-6152-4417-18706D42BFCA}">
          <p14:sldIdLst>
            <p14:sldId id="256"/>
            <p14:sldId id="257"/>
            <p14:sldId id="258"/>
          </p14:sldIdLst>
        </p14:section>
        <p14:section name="Findings" id="{48EA8963-62D4-0589-6D37-C92ACE729986}">
          <p14:sldIdLst>
            <p14:sldId id="259"/>
            <p14:sldId id="260"/>
            <p14:sldId id="261"/>
            <p14:sldId id="262"/>
          </p14:sldIdLst>
        </p14:section>
        <p14:section name="Action" id="{B1C1C1A9-D013-5AA6-D4AF-8A6B15156ED7}">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92" d="100"/>
          <a:sy n="92" d="100"/>
        </p:scale>
        <p:origin x="307"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Rows</c:v>
                </c:pt>
              </c:strCache>
            </c:strRef>
          </c:tx>
          <c:spPr>
            <a:solidFill>
              <a:srgbClr val="EC1F8C"/>
            </a:solidFill>
            <a:effectLst/>
          </c:spPr>
          <c:invertIfNegative val="0"/>
          <c:dPt>
            <c:idx val="0"/>
            <c:invertIfNegative val="0"/>
            <c:bubble3D val="0"/>
            <c:extLst>
              <c:ext xmlns:c16="http://schemas.microsoft.com/office/drawing/2014/chart" uri="{C3380CC4-5D6E-409C-BE32-E72D297353CC}">
                <c16:uniqueId val="{00000001-C027-4D34-AD5B-1536325D4335}"/>
              </c:ext>
            </c:extLst>
          </c:dPt>
          <c:dPt>
            <c:idx val="1"/>
            <c:invertIfNegative val="0"/>
            <c:bubble3D val="0"/>
            <c:spPr>
              <a:solidFill>
                <a:srgbClr val="8B5CF6"/>
              </a:solidFill>
              <a:effectLst/>
            </c:spPr>
            <c:extLst>
              <c:ext xmlns:c16="http://schemas.microsoft.com/office/drawing/2014/chart" uri="{C3380CC4-5D6E-409C-BE32-E72D297353CC}">
                <c16:uniqueId val="{00000003-C027-4D34-AD5B-1536325D4335}"/>
              </c:ext>
            </c:extLst>
          </c:dPt>
          <c:dPt>
            <c:idx val="2"/>
            <c:invertIfNegative val="0"/>
            <c:bubble3D val="0"/>
            <c:spPr>
              <a:solidFill>
                <a:srgbClr val="8B5CF6"/>
              </a:solidFill>
              <a:effectLst/>
            </c:spPr>
            <c:extLst>
              <c:ext xmlns:c16="http://schemas.microsoft.com/office/drawing/2014/chart" uri="{C3380CC4-5D6E-409C-BE32-E72D297353CC}">
                <c16:uniqueId val="{00000005-C027-4D34-AD5B-1536325D4335}"/>
              </c:ext>
            </c:extLst>
          </c:dPt>
          <c:dPt>
            <c:idx val="3"/>
            <c:invertIfNegative val="0"/>
            <c:bubble3D val="0"/>
            <c:spPr>
              <a:solidFill>
                <a:srgbClr val="8B5CF6"/>
              </a:solidFill>
              <a:effectLst/>
            </c:spPr>
            <c:extLst>
              <c:ext xmlns:c16="http://schemas.microsoft.com/office/drawing/2014/chart" uri="{C3380CC4-5D6E-409C-BE32-E72D297353CC}">
                <c16:uniqueId val="{00000007-C027-4D34-AD5B-1536325D4335}"/>
              </c:ext>
            </c:extLst>
          </c:dPt>
          <c:dPt>
            <c:idx val="4"/>
            <c:invertIfNegative val="0"/>
            <c:bubble3D val="0"/>
            <c:spPr>
              <a:solidFill>
                <a:srgbClr val="8B5CF6"/>
              </a:solidFill>
              <a:effectLst/>
            </c:spPr>
            <c:extLst>
              <c:ext xmlns:c16="http://schemas.microsoft.com/office/drawing/2014/chart" uri="{C3380CC4-5D6E-409C-BE32-E72D297353CC}">
                <c16:uniqueId val="{00000009-C027-4D34-AD5B-1536325D4335}"/>
              </c:ext>
            </c:extLst>
          </c:dPt>
          <c:dLbls>
            <c:numFmt formatCode="#,##0" sourceLinked="0"/>
            <c:spPr>
              <a:noFill/>
              <a:ln>
                <a:noFill/>
              </a:ln>
              <a:effectLst/>
            </c:spPr>
            <c:txPr>
              <a:bodyPr/>
              <a:lstStyle/>
              <a:p>
                <a:pPr>
                  <a:defRPr sz="1200" b="1" i="0" u="none" strike="noStrike">
                    <a:solidFill>
                      <a:srgbClr val="FFFFF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Category labels fixed</c:v>
                </c:pt>
                <c:pt idx="1">
                  <c:v>Missing source country</c:v>
                </c:pt>
                <c:pt idx="2">
                  <c:v>Missing severity</c:v>
                </c:pt>
                <c:pt idx="3">
                  <c:v>Missing industry</c:v>
                </c:pt>
                <c:pt idx="4">
                  <c:v>Impossible response times</c:v>
                </c:pt>
              </c:strCache>
            </c:strRef>
          </c:cat>
          <c:val>
            <c:numRef>
              <c:f>Sheet1!$B$2:$B$6</c:f>
              <c:numCache>
                <c:formatCode>General</c:formatCode>
                <c:ptCount val="5"/>
                <c:pt idx="0">
                  <c:v>5588</c:v>
                </c:pt>
                <c:pt idx="1">
                  <c:v>1577</c:v>
                </c:pt>
                <c:pt idx="2">
                  <c:v>1184</c:v>
                </c:pt>
                <c:pt idx="3">
                  <c:v>824</c:v>
                </c:pt>
                <c:pt idx="4">
                  <c:v>662</c:v>
                </c:pt>
              </c:numCache>
            </c:numRef>
          </c:val>
          <c:extLst>
            <c:ext xmlns:c16="http://schemas.microsoft.com/office/drawing/2014/chart" uri="{C3380CC4-5D6E-409C-BE32-E72D297353CC}">
              <c16:uniqueId val="{0000000A-C027-4D34-AD5B-1536325D4335}"/>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B4B8D4"/>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Incidents</c:v>
                </c:pt>
              </c:strCache>
            </c:strRef>
          </c:tx>
          <c:spPr>
            <a:solidFill>
              <a:srgbClr val="4A4E80"/>
            </a:solidFill>
            <a:effectLst/>
          </c:spPr>
          <c:invertIfNegative val="0"/>
          <c:dPt>
            <c:idx val="0"/>
            <c:invertIfNegative val="0"/>
            <c:bubble3D val="0"/>
            <c:extLst>
              <c:ext xmlns:c16="http://schemas.microsoft.com/office/drawing/2014/chart" uri="{C3380CC4-5D6E-409C-BE32-E72D297353CC}">
                <c16:uniqueId val="{00000001-0441-4BEA-BE04-B97138143839}"/>
              </c:ext>
            </c:extLst>
          </c:dPt>
          <c:dPt>
            <c:idx val="1"/>
            <c:invertIfNegative val="0"/>
            <c:bubble3D val="0"/>
            <c:extLst>
              <c:ext xmlns:c16="http://schemas.microsoft.com/office/drawing/2014/chart" uri="{C3380CC4-5D6E-409C-BE32-E72D297353CC}">
                <c16:uniqueId val="{00000003-0441-4BEA-BE04-B97138143839}"/>
              </c:ext>
            </c:extLst>
          </c:dPt>
          <c:dPt>
            <c:idx val="2"/>
            <c:invertIfNegative val="0"/>
            <c:bubble3D val="0"/>
            <c:spPr>
              <a:solidFill>
                <a:srgbClr val="5B3AE0"/>
              </a:solidFill>
              <a:effectLst/>
            </c:spPr>
            <c:extLst>
              <c:ext xmlns:c16="http://schemas.microsoft.com/office/drawing/2014/chart" uri="{C3380CC4-5D6E-409C-BE32-E72D297353CC}">
                <c16:uniqueId val="{00000005-0441-4BEA-BE04-B97138143839}"/>
              </c:ext>
            </c:extLst>
          </c:dPt>
          <c:dPt>
            <c:idx val="3"/>
            <c:invertIfNegative val="0"/>
            <c:bubble3D val="0"/>
            <c:spPr>
              <a:solidFill>
                <a:srgbClr val="8B5CF6"/>
              </a:solidFill>
              <a:effectLst/>
            </c:spPr>
            <c:extLst>
              <c:ext xmlns:c16="http://schemas.microsoft.com/office/drawing/2014/chart" uri="{C3380CC4-5D6E-409C-BE32-E72D297353CC}">
                <c16:uniqueId val="{00000007-0441-4BEA-BE04-B97138143839}"/>
              </c:ext>
            </c:extLst>
          </c:dPt>
          <c:dPt>
            <c:idx val="4"/>
            <c:invertIfNegative val="0"/>
            <c:bubble3D val="0"/>
            <c:spPr>
              <a:solidFill>
                <a:srgbClr val="8B5CF6"/>
              </a:solidFill>
              <a:effectLst/>
            </c:spPr>
            <c:extLst>
              <c:ext xmlns:c16="http://schemas.microsoft.com/office/drawing/2014/chart" uri="{C3380CC4-5D6E-409C-BE32-E72D297353CC}">
                <c16:uniqueId val="{00000009-0441-4BEA-BE04-B97138143839}"/>
              </c:ext>
            </c:extLst>
          </c:dPt>
          <c:dPt>
            <c:idx val="5"/>
            <c:spPr>
              <a:solidFill>
                <a:srgbClr val="8B5CF6"/>
              </a:solidFill>
            </c:spPr>
          </c:dPt>
          <c:dPt>
            <c:idx val="6"/>
            <c:spPr>
              <a:solidFill>
                <a:srgbClr val="EC1F8C"/>
              </a:solidFill>
            </c:spPr>
          </c:dPt>
          <c:dLbls>
            <c:numFmt formatCode="#,##0" sourceLinked="0"/>
            <c:spPr>
              <a:noFill/>
              <a:ln>
                <a:noFill/>
              </a:ln>
              <a:effectLst/>
            </c:spPr>
            <c:txPr>
              <a:bodyPr/>
              <a:lstStyle/>
              <a:p>
                <a:pPr>
                  <a:defRPr sz="1200" b="1" i="0" u="none" strike="noStrike">
                    <a:solidFill>
                      <a:srgbClr val="FFFFF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2020</c:v>
                </c:pt>
                <c:pt idx="1">
                  <c:v>2021</c:v>
                </c:pt>
                <c:pt idx="2">
                  <c:v>2022</c:v>
                </c:pt>
                <c:pt idx="3">
                  <c:v>2023</c:v>
                </c:pt>
                <c:pt idx="4">
                  <c:v>2024</c:v>
                </c:pt>
                <c:pt idx="5">
                  <c:v>2025</c:v>
                </c:pt>
                <c:pt idx="6">
                  <c:v>2026 YTD</c:v>
                </c:pt>
              </c:strCache>
            </c:strRef>
          </c:cat>
          <c:val>
            <c:numRef>
              <c:f>Sheet1!$B$2:$B$8</c:f>
              <c:numCache>
                <c:formatCode>General</c:formatCode>
                <c:ptCount val="7"/>
                <c:pt idx="0">
                  <c:v>7200</c:v>
                </c:pt>
                <c:pt idx="1">
                  <c:v>8400</c:v>
                </c:pt>
                <c:pt idx="2">
                  <c:v>10000</c:v>
                </c:pt>
                <c:pt idx="3">
                  <c:v>12000</c:v>
                </c:pt>
                <c:pt idx="4">
                  <c:v>14000</c:v>
                </c:pt>
                <c:pt idx="5">
                  <c:v>16000</c:v>
                </c:pt>
                <c:pt idx="6">
                  <c:v>12600</c:v>
                </c:pt>
              </c:numCache>
            </c:numRef>
          </c:val>
          <c:extLst>
            <c:ext xmlns:c16="http://schemas.microsoft.com/office/drawing/2014/chart" uri="{C3380CC4-5D6E-409C-BE32-E72D297353CC}">
              <c16:uniqueId val="{0000000A-0441-4BEA-BE04-B97138143839}"/>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B4B8D4"/>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stacked"/>
        <c:varyColors val="0"/>
        <c:ser>
          <c:idx val="0"/>
          <c:order val="0"/>
          <c:tx>
            <c:strRef>
              <c:f>Sheet1!$B$1</c:f>
              <c:strCache>
                <c:ptCount val="1"/>
                <c:pt idx="0">
                  <c:v>Phishing</c:v>
                </c:pt>
              </c:strCache>
            </c:strRef>
          </c:tx>
          <c:spPr>
            <a:solidFill>
              <a:srgbClr val="8B5CF6"/>
            </a:solidFill>
            <a:effectLst/>
          </c:spPr>
          <c:invertIfNegative val="0"/>
          <c:dLbls>
            <c:numFmt formatCode="0&quot;%&quot;" sourceLinked="0"/>
            <c:spPr>
              <a:noFill/>
              <a:ln>
                <a:noFill/>
              </a:ln>
              <a:effectLst/>
            </c:spPr>
            <c:txPr>
              <a:bodyPr/>
              <a:lstStyle/>
              <a:p>
                <a:pPr>
                  <a:defRPr sz="1000" b="1"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2020</c:v>
                </c:pt>
                <c:pt idx="1">
                  <c:v>2021</c:v>
                </c:pt>
                <c:pt idx="2">
                  <c:v>2022</c:v>
                </c:pt>
                <c:pt idx="3">
                  <c:v>2023</c:v>
                </c:pt>
                <c:pt idx="4">
                  <c:v>2024</c:v>
                </c:pt>
                <c:pt idx="5">
                  <c:v>2025</c:v>
                </c:pt>
                <c:pt idx="6">
                  <c:v>2026 YTD</c:v>
                </c:pt>
              </c:strCache>
            </c:strRef>
          </c:cat>
          <c:val>
            <c:numRef>
              <c:f>Sheet1!$B$2:$B$8</c:f>
              <c:numCache>
                <c:formatCode>General</c:formatCode>
                <c:ptCount val="7"/>
                <c:pt idx="0">
                  <c:v>29.5</c:v>
                </c:pt>
                <c:pt idx="1">
                  <c:v>29.4</c:v>
                </c:pt>
                <c:pt idx="2">
                  <c:v>27.6</c:v>
                </c:pt>
                <c:pt idx="3">
                  <c:v>28.2</c:v>
                </c:pt>
                <c:pt idx="4">
                  <c:v>27.0</c:v>
                </c:pt>
                <c:pt idx="5">
                  <c:v>26.1</c:v>
                </c:pt>
                <c:pt idx="6">
                  <c:v>25.7</c:v>
                </c:pt>
              </c:numCache>
            </c:numRef>
          </c:val>
          <c:extLst>
            <c:ext xmlns:c16="http://schemas.microsoft.com/office/drawing/2014/chart" uri="{C3380CC4-5D6E-409C-BE32-E72D297353CC}">
              <c16:uniqueId val="{00000000-719B-49BE-91B3-46E286902B84}"/>
            </c:ext>
          </c:extLst>
        </c:ser>
        <c:ser>
          <c:idx val="1"/>
          <c:order val="1"/>
          <c:tx>
            <c:strRef>
              <c:f>Sheet1!$C$1</c:f>
              <c:strCache>
                <c:ptCount val="1"/>
                <c:pt idx="0">
                  <c:v>Malware</c:v>
                </c:pt>
              </c:strCache>
            </c:strRef>
          </c:tx>
          <c:spPr>
            <a:solidFill>
              <a:srgbClr val="5B3AE0"/>
            </a:solidFill>
            <a:effectLst/>
          </c:spPr>
          <c:invertIfNegative val="0"/>
          <c:dLbls>
            <c:numFmt formatCode="0&quot;%&quot;" sourceLinked="0"/>
            <c:spPr>
              <a:noFill/>
              <a:ln>
                <a:noFill/>
              </a:ln>
              <a:effectLst/>
            </c:spPr>
            <c:txPr>
              <a:bodyPr/>
              <a:lstStyle/>
              <a:p>
                <a:pPr>
                  <a:defRPr sz="1000" b="1"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2020</c:v>
                </c:pt>
                <c:pt idx="1">
                  <c:v>2021</c:v>
                </c:pt>
                <c:pt idx="2">
                  <c:v>2022</c:v>
                </c:pt>
                <c:pt idx="3">
                  <c:v>2023</c:v>
                </c:pt>
                <c:pt idx="4">
                  <c:v>2024</c:v>
                </c:pt>
                <c:pt idx="5">
                  <c:v>2025</c:v>
                </c:pt>
                <c:pt idx="6">
                  <c:v>2026 YTD</c:v>
                </c:pt>
              </c:strCache>
            </c:strRef>
          </c:cat>
          <c:val>
            <c:numRef>
              <c:f>Sheet1!$C$2:$C$8</c:f>
              <c:numCache>
                <c:formatCode>General</c:formatCode>
                <c:ptCount val="7"/>
                <c:pt idx="0">
                  <c:v>23.6</c:v>
                </c:pt>
                <c:pt idx="1">
                  <c:v>22.8</c:v>
                </c:pt>
                <c:pt idx="2">
                  <c:v>21.3</c:v>
                </c:pt>
                <c:pt idx="3">
                  <c:v>18.4</c:v>
                </c:pt>
                <c:pt idx="4">
                  <c:v>16.4</c:v>
                </c:pt>
                <c:pt idx="5">
                  <c:v>15.6</c:v>
                </c:pt>
                <c:pt idx="6">
                  <c:v>13.8</c:v>
                </c:pt>
              </c:numCache>
            </c:numRef>
          </c:val>
          <c:extLst>
            <c:ext xmlns:c16="http://schemas.microsoft.com/office/drawing/2014/chart" uri="{C3380CC4-5D6E-409C-BE32-E72D297353CC}">
              <c16:uniqueId val="{00000001-719B-49BE-91B3-46E286902B84}"/>
            </c:ext>
          </c:extLst>
        </c:ser>
        <c:ser>
          <c:idx val="2"/>
          <c:order val="2"/>
          <c:tx>
            <c:strRef>
              <c:f>Sheet1!$D$1</c:f>
              <c:strCache>
                <c:ptCount val="1"/>
                <c:pt idx="0">
                  <c:v>Ransomware</c:v>
                </c:pt>
              </c:strCache>
            </c:strRef>
          </c:tx>
          <c:spPr>
            <a:solidFill>
              <a:srgbClr val="EC1F8C"/>
            </a:solidFill>
            <a:effectLst/>
          </c:spPr>
          <c:invertIfNegative val="0"/>
          <c:dLbls>
            <c:numFmt formatCode="0&quot;%&quot;" sourceLinked="0"/>
            <c:spPr>
              <a:noFill/>
              <a:ln>
                <a:noFill/>
              </a:ln>
              <a:effectLst/>
            </c:spPr>
            <c:txPr>
              <a:bodyPr/>
              <a:lstStyle/>
              <a:p>
                <a:pPr>
                  <a:defRPr sz="1000" b="1"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2020</c:v>
                </c:pt>
                <c:pt idx="1">
                  <c:v>2021</c:v>
                </c:pt>
                <c:pt idx="2">
                  <c:v>2022</c:v>
                </c:pt>
                <c:pt idx="3">
                  <c:v>2023</c:v>
                </c:pt>
                <c:pt idx="4">
                  <c:v>2024</c:v>
                </c:pt>
                <c:pt idx="5">
                  <c:v>2025</c:v>
                </c:pt>
                <c:pt idx="6">
                  <c:v>2026 YTD</c:v>
                </c:pt>
              </c:strCache>
            </c:strRef>
          </c:cat>
          <c:val>
            <c:numRef>
              <c:f>Sheet1!$D$2:$D$8</c:f>
              <c:numCache>
                <c:formatCode>General</c:formatCode>
                <c:ptCount val="7"/>
                <c:pt idx="0">
                  <c:v>12.3</c:v>
                </c:pt>
                <c:pt idx="1">
                  <c:v>14.7</c:v>
                </c:pt>
                <c:pt idx="2">
                  <c:v>17.1</c:v>
                </c:pt>
                <c:pt idx="3">
                  <c:v>19.7</c:v>
                </c:pt>
                <c:pt idx="4">
                  <c:v>22.1</c:v>
                </c:pt>
                <c:pt idx="5">
                  <c:v>24.8</c:v>
                </c:pt>
                <c:pt idx="6">
                  <c:v>26.9</c:v>
                </c:pt>
              </c:numCache>
            </c:numRef>
          </c:val>
          <c:extLst>
            <c:ext xmlns:c16="http://schemas.microsoft.com/office/drawing/2014/chart" uri="{C3380CC4-5D6E-409C-BE32-E72D297353CC}">
              <c16:uniqueId val="{00000002-719B-49BE-91B3-46E286902B84}"/>
            </c:ext>
          </c:extLst>
        </c:ser>
        <c:ser>
          <c:idx val="3"/>
          <c:order val="3"/>
          <c:tx>
            <c:strRef>
              <c:f>Sheet1!$E$1</c:f>
              <c:strCache>
                <c:ptCount val="1"/>
                <c:pt idx="0">
                  <c:v>DDoS</c:v>
                </c:pt>
              </c:strCache>
            </c:strRef>
          </c:tx>
          <c:spPr>
            <a:solidFill>
              <a:srgbClr val="4F7BFF"/>
            </a:solidFill>
            <a:effectLst/>
          </c:spPr>
          <c:invertIfNegative val="0"/>
          <c:dLbls>
            <c:numFmt formatCode="0&quot;%&quot;" sourceLinked="0"/>
            <c:spPr>
              <a:noFill/>
              <a:ln>
                <a:noFill/>
              </a:ln>
              <a:effectLst/>
            </c:spPr>
            <c:txPr>
              <a:bodyPr/>
              <a:lstStyle/>
              <a:p>
                <a:pPr>
                  <a:defRPr sz="1000" b="1"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2020</c:v>
                </c:pt>
                <c:pt idx="1">
                  <c:v>2021</c:v>
                </c:pt>
                <c:pt idx="2">
                  <c:v>2022</c:v>
                </c:pt>
                <c:pt idx="3">
                  <c:v>2023</c:v>
                </c:pt>
                <c:pt idx="4">
                  <c:v>2024</c:v>
                </c:pt>
                <c:pt idx="5">
                  <c:v>2025</c:v>
                </c:pt>
                <c:pt idx="6">
                  <c:v>2026 YTD</c:v>
                </c:pt>
              </c:strCache>
            </c:strRef>
          </c:cat>
          <c:val>
            <c:numRef>
              <c:f>Sheet1!$E$2:$E$8</c:f>
              <c:numCache>
                <c:formatCode>General</c:formatCode>
                <c:ptCount val="7"/>
                <c:pt idx="0">
                  <c:v>12.1</c:v>
                </c:pt>
                <c:pt idx="1">
                  <c:v>12.1</c:v>
                </c:pt>
                <c:pt idx="2">
                  <c:v>12.4</c:v>
                </c:pt>
                <c:pt idx="3">
                  <c:v>12.6</c:v>
                </c:pt>
                <c:pt idx="4">
                  <c:v>13.2</c:v>
                </c:pt>
                <c:pt idx="5">
                  <c:v>12.8</c:v>
                </c:pt>
                <c:pt idx="6">
                  <c:v>13.0</c:v>
                </c:pt>
              </c:numCache>
            </c:numRef>
          </c:val>
          <c:extLst>
            <c:ext xmlns:c16="http://schemas.microsoft.com/office/drawing/2014/chart" uri="{C3380CC4-5D6E-409C-BE32-E72D297353CC}">
              <c16:uniqueId val="{00000003-719B-49BE-91B3-46E286902B84}"/>
            </c:ext>
          </c:extLst>
        </c:ser>
        <c:ser>
          <c:idx val="4"/>
          <c:order val="4"/>
          <c:tx>
            <c:strRef>
              <c:f>Sheet1!$F$1</c:f>
              <c:strCache>
                <c:ptCount val="1"/>
                <c:pt idx="0">
                  <c:v>Web App Attack</c:v>
                </c:pt>
              </c:strCache>
            </c:strRef>
          </c:tx>
          <c:spPr>
            <a:solidFill>
              <a:srgbClr val="2E8F7A"/>
            </a:solidFill>
            <a:effectLst/>
          </c:spPr>
          <c:invertIfNegative val="0"/>
          <c:dLbls>
            <c:numFmt formatCode="0&quot;%&quot;" sourceLinked="0"/>
            <c:spPr>
              <a:noFill/>
              <a:ln>
                <a:noFill/>
              </a:ln>
              <a:effectLst/>
            </c:spPr>
            <c:txPr>
              <a:bodyPr/>
              <a:lstStyle/>
              <a:p>
                <a:pPr>
                  <a:defRPr sz="1000" b="1"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2020</c:v>
                </c:pt>
                <c:pt idx="1">
                  <c:v>2021</c:v>
                </c:pt>
                <c:pt idx="2">
                  <c:v>2022</c:v>
                </c:pt>
                <c:pt idx="3">
                  <c:v>2023</c:v>
                </c:pt>
                <c:pt idx="4">
                  <c:v>2024</c:v>
                </c:pt>
                <c:pt idx="5">
                  <c:v>2025</c:v>
                </c:pt>
                <c:pt idx="6">
                  <c:v>2026 YTD</c:v>
                </c:pt>
              </c:strCache>
            </c:strRef>
          </c:cat>
          <c:val>
            <c:numRef>
              <c:f>Sheet1!$F$2:$F$8</c:f>
              <c:numCache>
                <c:formatCode>General</c:formatCode>
                <c:ptCount val="7"/>
                <c:pt idx="0">
                  <c:v>14.5</c:v>
                </c:pt>
                <c:pt idx="1">
                  <c:v>13.3</c:v>
                </c:pt>
                <c:pt idx="2">
                  <c:v>13.5</c:v>
                </c:pt>
                <c:pt idx="3">
                  <c:v>13.4</c:v>
                </c:pt>
                <c:pt idx="4">
                  <c:v>12.8</c:v>
                </c:pt>
                <c:pt idx="5">
                  <c:v>12.7</c:v>
                </c:pt>
                <c:pt idx="6">
                  <c:v>12.6</c:v>
                </c:pt>
              </c:numCache>
            </c:numRef>
          </c:val>
          <c:extLst>
            <c:ext xmlns:c16="http://schemas.microsoft.com/office/drawing/2014/chart" uri="{C3380CC4-5D6E-409C-BE32-E72D297353CC}">
              <c16:uniqueId val="{00000004-719B-49BE-91B3-46E286902B84}"/>
            </c:ext>
          </c:extLst>
        </c:ser>
        <c:ser>
          <c:idx val="5"/>
          <c:order val="5"/>
          <c:tx>
            <c:strRef>
              <c:f>Sheet1!$G$1</c:f>
              <c:strCache>
                <c:ptCount val="1"/>
                <c:pt idx="0">
                  <c:v>Insider Threat</c:v>
                </c:pt>
              </c:strCache>
            </c:strRef>
          </c:tx>
          <c:spPr>
            <a:solidFill>
              <a:srgbClr val="6B6FA8"/>
            </a:solidFill>
            <a:effectLst/>
          </c:spPr>
          <c:invertIfNegative val="0"/>
          <c:dLbls>
            <c:numFmt formatCode="0&quot;%&quot;" sourceLinked="0"/>
            <c:spPr>
              <a:noFill/>
              <a:ln>
                <a:noFill/>
              </a:ln>
              <a:effectLst/>
            </c:spPr>
            <c:txPr>
              <a:bodyPr/>
              <a:lstStyle/>
              <a:p>
                <a:pPr>
                  <a:defRPr sz="1000" b="1"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2020</c:v>
                </c:pt>
                <c:pt idx="1">
                  <c:v>2021</c:v>
                </c:pt>
                <c:pt idx="2">
                  <c:v>2022</c:v>
                </c:pt>
                <c:pt idx="3">
                  <c:v>2023</c:v>
                </c:pt>
                <c:pt idx="4">
                  <c:v>2024</c:v>
                </c:pt>
                <c:pt idx="5">
                  <c:v>2025</c:v>
                </c:pt>
                <c:pt idx="6">
                  <c:v>2026 YTD</c:v>
                </c:pt>
              </c:strCache>
            </c:strRef>
          </c:cat>
          <c:val>
            <c:numRef>
              <c:f>Sheet1!$G$2:$G$8</c:f>
              <c:numCache>
                <c:formatCode>General</c:formatCode>
                <c:ptCount val="7"/>
                <c:pt idx="0">
                  <c:v>8.1</c:v>
                </c:pt>
                <c:pt idx="1">
                  <c:v>7.7</c:v>
                </c:pt>
                <c:pt idx="2">
                  <c:v>8.0</c:v>
                </c:pt>
                <c:pt idx="3">
                  <c:v>7.8</c:v>
                </c:pt>
                <c:pt idx="4">
                  <c:v>8.4</c:v>
                </c:pt>
                <c:pt idx="5">
                  <c:v>8.2</c:v>
                </c:pt>
                <c:pt idx="6">
                  <c:v>7.9</c:v>
                </c:pt>
              </c:numCache>
            </c:numRef>
          </c:val>
          <c:extLst>
            <c:ext xmlns:c16="http://schemas.microsoft.com/office/drawing/2014/chart" uri="{C3380CC4-5D6E-409C-BE32-E72D297353CC}">
              <c16:uniqueId val="{00000005-719B-49BE-91B3-46E286902B84}"/>
            </c:ext>
          </c:extLst>
        </c:ser>
        <c:dLbls>
          <c:dLblPos val="ctr"/>
          <c:showLegendKey val="0"/>
          <c:showVal val="1"/>
          <c:showCatName val="0"/>
          <c:showSerName val="0"/>
          <c:showPercent val="0"/>
          <c:showBubbleSize val="0"/>
        </c:dLbls>
        <c:gapWidth val="3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B4B8D4"/>
                </a:solidFill>
                <a:latin typeface="+mn-lt"/>
              </a:defRPr>
            </a:pPr>
            <a:endParaRPr lang="en-US"/>
          </a:p>
        </c:txPr>
        <c:crossAx val="2094734552"/>
        <c:crosses val="autoZero"/>
        <c:auto val="1"/>
        <c:lblAlgn val="ctr"/>
        <c:lblOffset val="100"/>
        <c:noMultiLvlLbl val="1"/>
      </c:catAx>
      <c:valAx>
        <c:axId val="2094734552"/>
        <c:scaling>
          <c:orientation val="minMax"/>
          <c:max val="10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100">
              <a:solidFill>
                <a:srgbClr val="B4B8D4"/>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Impact $M</c:v>
                </c:pt>
              </c:strCache>
            </c:strRef>
          </c:tx>
          <c:spPr>
            <a:solidFill>
              <a:srgbClr val="EC1F8C"/>
            </a:solidFill>
            <a:effectLst/>
          </c:spPr>
          <c:invertIfNegative val="0"/>
          <c:dPt>
            <c:idx val="0"/>
            <c:invertIfNegative val="0"/>
            <c:bubble3D val="0"/>
            <c:extLst>
              <c:ext xmlns:c16="http://schemas.microsoft.com/office/drawing/2014/chart" uri="{C3380CC4-5D6E-409C-BE32-E72D297353CC}">
                <c16:uniqueId val="{00000001-6252-4EAD-921D-9522DF7698D4}"/>
              </c:ext>
            </c:extLst>
          </c:dPt>
          <c:dPt>
            <c:idx val="1"/>
            <c:invertIfNegative val="0"/>
            <c:bubble3D val="0"/>
            <c:spPr>
              <a:solidFill>
                <a:srgbClr val="8B5CF6"/>
              </a:solidFill>
              <a:effectLst/>
            </c:spPr>
            <c:extLst>
              <c:ext xmlns:c16="http://schemas.microsoft.com/office/drawing/2014/chart" uri="{C3380CC4-5D6E-409C-BE32-E72D297353CC}">
                <c16:uniqueId val="{00000003-6252-4EAD-921D-9522DF7698D4}"/>
              </c:ext>
            </c:extLst>
          </c:dPt>
          <c:dPt>
            <c:idx val="2"/>
            <c:invertIfNegative val="0"/>
            <c:bubble3D val="0"/>
            <c:spPr>
              <a:solidFill>
                <a:srgbClr val="8B5CF6"/>
              </a:solidFill>
              <a:effectLst/>
            </c:spPr>
            <c:extLst>
              <c:ext xmlns:c16="http://schemas.microsoft.com/office/drawing/2014/chart" uri="{C3380CC4-5D6E-409C-BE32-E72D297353CC}">
                <c16:uniqueId val="{00000005-6252-4EAD-921D-9522DF7698D4}"/>
              </c:ext>
            </c:extLst>
          </c:dPt>
          <c:dPt>
            <c:idx val="3"/>
            <c:invertIfNegative val="0"/>
            <c:bubble3D val="0"/>
            <c:spPr>
              <a:solidFill>
                <a:srgbClr val="8B5CF6"/>
              </a:solidFill>
              <a:effectLst/>
            </c:spPr>
            <c:extLst>
              <c:ext xmlns:c16="http://schemas.microsoft.com/office/drawing/2014/chart" uri="{C3380CC4-5D6E-409C-BE32-E72D297353CC}">
                <c16:uniqueId val="{00000007-6252-4EAD-921D-9522DF7698D4}"/>
              </c:ext>
            </c:extLst>
          </c:dPt>
          <c:dPt>
            <c:idx val="4"/>
            <c:invertIfNegative val="0"/>
            <c:bubble3D val="0"/>
            <c:spPr>
              <a:solidFill>
                <a:srgbClr val="8B5CF6"/>
              </a:solidFill>
              <a:effectLst/>
            </c:spPr>
            <c:extLst>
              <c:ext xmlns:c16="http://schemas.microsoft.com/office/drawing/2014/chart" uri="{C3380CC4-5D6E-409C-BE32-E72D297353CC}">
                <c16:uniqueId val="{00000009-6252-4EAD-921D-9522DF7698D4}"/>
              </c:ext>
            </c:extLst>
          </c:dPt>
          <c:dPt>
            <c:idx val="5"/>
            <c:invertIfNegative val="0"/>
            <c:bubble3D val="0"/>
            <c:spPr>
              <a:solidFill>
                <a:srgbClr val="8B5CF6"/>
              </a:solidFill>
              <a:effectLst/>
            </c:spPr>
            <c:extLst>
              <c:ext xmlns:c16="http://schemas.microsoft.com/office/drawing/2014/chart" uri="{C3380CC4-5D6E-409C-BE32-E72D297353CC}">
                <c16:uniqueId val="{0000000B-6252-4EAD-921D-9522DF7698D4}"/>
              </c:ext>
            </c:extLst>
          </c:dPt>
          <c:dLbls>
            <c:numFmt formatCode="&quot;$&quot;#,##0&quot;M&quot;" sourceLinked="0"/>
            <c:spPr>
              <a:noFill/>
              <a:ln>
                <a:noFill/>
              </a:ln>
              <a:effectLst/>
            </c:spPr>
            <c:txPr>
              <a:bodyPr/>
              <a:lstStyle/>
              <a:p>
                <a:pPr>
                  <a:defRPr sz="1200" b="1" i="0" u="none" strike="noStrike">
                    <a:solidFill>
                      <a:srgbClr val="FFFFF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Ransomware</c:v>
                </c:pt>
                <c:pt idx="1">
                  <c:v>Malware</c:v>
                </c:pt>
                <c:pt idx="2">
                  <c:v>Insider Threat</c:v>
                </c:pt>
                <c:pt idx="3">
                  <c:v>Web App Attack</c:v>
                </c:pt>
                <c:pt idx="4">
                  <c:v>Phishing</c:v>
                </c:pt>
                <c:pt idx="5">
                  <c:v>DDoS</c:v>
                </c:pt>
              </c:strCache>
            </c:strRef>
          </c:cat>
          <c:val>
            <c:numRef>
              <c:f>Sheet1!$B$2:$B$7</c:f>
              <c:numCache>
                <c:formatCode>General</c:formatCode>
                <c:ptCount val="6"/>
                <c:pt idx="0">
                  <c:v>6705</c:v>
                </c:pt>
                <c:pt idx="1">
                  <c:v>951</c:v>
                </c:pt>
                <c:pt idx="2">
                  <c:v>822</c:v>
                </c:pt>
                <c:pt idx="3">
                  <c:v>750</c:v>
                </c:pt>
                <c:pt idx="4">
                  <c:v>714</c:v>
                </c:pt>
                <c:pt idx="5">
                  <c:v>474</c:v>
                </c:pt>
              </c:numCache>
            </c:numRef>
          </c:val>
          <c:extLst>
            <c:ext xmlns:c16="http://schemas.microsoft.com/office/drawing/2014/chart" uri="{C3380CC4-5D6E-409C-BE32-E72D297353CC}">
              <c16:uniqueId val="{0000000C-6252-4EAD-921D-9522DF7698D4}"/>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B4B8D4"/>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lineChart>
        <c:grouping val="standard"/>
        <c:varyColors val="0"/>
        <c:ser>
          <c:idx val="0"/>
          <c:order val="0"/>
          <c:tx>
            <c:strRef>
              <c:f>Sheet1!$B$1</c:f>
              <c:strCache>
                <c:ptCount val="1"/>
                <c:pt idx="0">
                  <c:v>Mean time to respond (hrs)</c:v>
                </c:pt>
              </c:strCache>
            </c:strRef>
          </c:tx>
          <c:spPr>
            <a:ln w="38100" cap="flat">
              <a:solidFill>
                <a:srgbClr val="34D3A0"/>
              </a:solidFill>
              <a:prstDash val="solid"/>
              <a:round/>
            </a:ln>
            <a:effectLst/>
          </c:spPr>
          <c:marker>
            <c:symbol val="circle"/>
            <c:size val="8"/>
            <c:spPr>
              <a:solidFill>
                <a:srgbClr val="34D3A0"/>
              </a:solidFill>
              <a:ln w="9525" cap="flat">
                <a:solidFill>
                  <a:srgbClr val="34D3A0"/>
                </a:solidFill>
                <a:prstDash val="solid"/>
                <a:round/>
              </a:ln>
              <a:effectLst/>
            </c:spPr>
          </c:marker>
          <c:dLbls>
            <c:numFmt formatCode="0.00" sourceLinked="0"/>
            <c:spPr>
              <a:noFill/>
              <a:ln>
                <a:noFill/>
              </a:ln>
              <a:effectLst/>
            </c:spPr>
            <c:txPr>
              <a:bodyPr/>
              <a:lstStyle/>
              <a:p>
                <a:pPr>
                  <a:defRPr sz="1200" b="1" i="0" u="none" strike="noStrike">
                    <a:solidFill>
                      <a:srgbClr val="FFFFFF"/>
                    </a:solidFill>
                    <a:latin typeface="+mn-lt"/>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2020</c:v>
                </c:pt>
                <c:pt idx="1">
                  <c:v>2021</c:v>
                </c:pt>
                <c:pt idx="2">
                  <c:v>2022</c:v>
                </c:pt>
                <c:pt idx="3">
                  <c:v>2023</c:v>
                </c:pt>
                <c:pt idx="4">
                  <c:v>2024</c:v>
                </c:pt>
                <c:pt idx="5">
                  <c:v>2025</c:v>
                </c:pt>
                <c:pt idx="6">
                  <c:v>2026 YTD</c:v>
                </c:pt>
              </c:strCache>
            </c:strRef>
          </c:cat>
          <c:val>
            <c:numRef>
              <c:f>Sheet1!$B$2:$B$8</c:f>
              <c:numCache>
                <c:formatCode>General</c:formatCode>
                <c:ptCount val="7"/>
                <c:pt idx="0">
                  <c:v>3.21</c:v>
                </c:pt>
                <c:pt idx="1">
                  <c:v>2.97</c:v>
                </c:pt>
                <c:pt idx="2">
                  <c:v>2.75</c:v>
                </c:pt>
                <c:pt idx="3">
                  <c:v>2.49</c:v>
                </c:pt>
                <c:pt idx="4">
                  <c:v>2.25</c:v>
                </c:pt>
                <c:pt idx="5">
                  <c:v>1.98</c:v>
                </c:pt>
                <c:pt idx="6">
                  <c:v>1.74</c:v>
                </c:pt>
              </c:numCache>
            </c:numRef>
          </c:val>
          <c:smooth val="0"/>
          <c:extLst>
            <c:ext xmlns:c16="http://schemas.microsoft.com/office/drawing/2014/chart" uri="{C3380CC4-5D6E-409C-BE32-E72D297353CC}">
              <c16:uniqueId val="{00000000-98DC-4832-A3E6-86F6A2920C65}"/>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B4B8D4"/>
                </a:solidFill>
                <a:latin typeface="+mn-lt"/>
              </a:defRPr>
            </a:pPr>
            <a:endParaRPr lang="en-US"/>
          </a:p>
        </c:txPr>
        <c:crossAx val="2094734552"/>
        <c:crosses val="autoZero"/>
        <c:auto val="1"/>
        <c:lblAlgn val="ctr"/>
        <c:lblOffset val="100"/>
        <c:noMultiLvlLbl val="1"/>
      </c:catAx>
      <c:valAx>
        <c:axId val="2094734552"/>
        <c:scaling>
          <c:orientation val="minMax"/>
          <c:max val="4.4000000000000004"/>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lineChart>
        <c:grouping val="standard"/>
        <c:varyColors val="0"/>
        <c:ser>
          <c:idx val="0"/>
          <c:order val="0"/>
          <c:tx>
            <c:strRef>
              <c:f>Sheet1!$B$1</c:f>
              <c:strCache>
                <c:ptCount val="1"/>
                <c:pt idx="0">
                  <c:v>Answered within SLA (%)</c:v>
                </c:pt>
              </c:strCache>
            </c:strRef>
          </c:tx>
          <c:spPr>
            <a:ln w="38100" cap="flat">
              <a:solidFill>
                <a:srgbClr val="8B5CF6"/>
              </a:solidFill>
              <a:prstDash val="solid"/>
              <a:round/>
            </a:ln>
            <a:effectLst/>
          </c:spPr>
          <c:marker>
            <c:symbol val="circle"/>
            <c:size val="8"/>
            <c:spPr>
              <a:solidFill>
                <a:srgbClr val="8B5CF6"/>
              </a:solidFill>
              <a:ln w="9525" cap="flat">
                <a:solidFill>
                  <a:srgbClr val="8B5CF6"/>
                </a:solidFill>
                <a:prstDash val="solid"/>
                <a:round/>
              </a:ln>
              <a:effectLst/>
            </c:spPr>
          </c:marker>
          <c:dLbls>
            <c:numFmt formatCode="0&quot;%&quot;" sourceLinked="0"/>
            <c:spPr>
              <a:noFill/>
              <a:ln>
                <a:noFill/>
              </a:ln>
              <a:effectLst/>
            </c:spPr>
            <c:txPr>
              <a:bodyPr/>
              <a:lstStyle/>
              <a:p>
                <a:pPr>
                  <a:defRPr sz="1200" b="1" i="0" u="none" strike="noStrike">
                    <a:solidFill>
                      <a:srgbClr val="FFFFFF"/>
                    </a:solidFill>
                    <a:latin typeface="+mn-lt"/>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2020</c:v>
                </c:pt>
                <c:pt idx="1">
                  <c:v>2021</c:v>
                </c:pt>
                <c:pt idx="2">
                  <c:v>2022</c:v>
                </c:pt>
                <c:pt idx="3">
                  <c:v>2023</c:v>
                </c:pt>
                <c:pt idx="4">
                  <c:v>2024</c:v>
                </c:pt>
                <c:pt idx="5">
                  <c:v>2025</c:v>
                </c:pt>
                <c:pt idx="6">
                  <c:v>2026 YTD</c:v>
                </c:pt>
              </c:strCache>
            </c:strRef>
          </c:cat>
          <c:val>
            <c:numRef>
              <c:f>Sheet1!$B$2:$B$8</c:f>
              <c:numCache>
                <c:formatCode>General</c:formatCode>
                <c:ptCount val="7"/>
                <c:pt idx="0">
                  <c:v>65.1</c:v>
                </c:pt>
                <c:pt idx="1">
                  <c:v>69.2</c:v>
                </c:pt>
                <c:pt idx="2">
                  <c:v>73.4</c:v>
                </c:pt>
                <c:pt idx="3">
                  <c:v>78.5</c:v>
                </c:pt>
                <c:pt idx="4">
                  <c:v>82.7</c:v>
                </c:pt>
                <c:pt idx="5">
                  <c:v>86.9</c:v>
                </c:pt>
                <c:pt idx="6">
                  <c:v>91.1</c:v>
                </c:pt>
              </c:numCache>
            </c:numRef>
          </c:val>
          <c:smooth val="0"/>
          <c:extLst>
            <c:ext xmlns:c16="http://schemas.microsoft.com/office/drawing/2014/chart" uri="{C3380CC4-5D6E-409C-BE32-E72D297353CC}">
              <c16:uniqueId val="{00000000-09D8-4F37-A118-4B542F8E4099}"/>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B4B8D4"/>
                </a:solidFill>
                <a:latin typeface="+mn-lt"/>
              </a:defRPr>
            </a:pPr>
            <a:endParaRPr lang="en-US"/>
          </a:p>
        </c:txPr>
        <c:crossAx val="2094734552"/>
        <c:crosses val="autoZero"/>
        <c:auto val="1"/>
        <c:lblAlgn val="ctr"/>
        <c:lblOffset val="100"/>
        <c:noMultiLvlLbl val="1"/>
      </c:catAx>
      <c:valAx>
        <c:axId val="2094734552"/>
        <c:scaling>
          <c:orientation val="minMax"/>
          <c:max val="11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Share</c:v>
                </c:pt>
              </c:strCache>
            </c:strRef>
          </c:tx>
          <c:spPr>
            <a:solidFill>
              <a:srgbClr val="34D3A0"/>
            </a:solidFill>
            <a:effectLst/>
          </c:spPr>
          <c:invertIfNegative val="0"/>
          <c:dPt>
            <c:idx val="0"/>
            <c:invertIfNegative val="0"/>
            <c:bubble3D val="0"/>
            <c:extLst>
              <c:ext xmlns:c16="http://schemas.microsoft.com/office/drawing/2014/chart" uri="{C3380CC4-5D6E-409C-BE32-E72D297353CC}">
                <c16:uniqueId val="{00000001-8C9A-44DF-BF34-6C7D036471C2}"/>
              </c:ext>
            </c:extLst>
          </c:dPt>
          <c:dPt>
            <c:idx val="1"/>
            <c:invertIfNegative val="0"/>
            <c:bubble3D val="0"/>
            <c:extLst>
              <c:ext xmlns:c16="http://schemas.microsoft.com/office/drawing/2014/chart" uri="{C3380CC4-5D6E-409C-BE32-E72D297353CC}">
                <c16:uniqueId val="{00000003-8C9A-44DF-BF34-6C7D036471C2}"/>
              </c:ext>
            </c:extLst>
          </c:dPt>
          <c:dPt>
            <c:idx val="2"/>
            <c:invertIfNegative val="0"/>
            <c:bubble3D val="0"/>
            <c:spPr>
              <a:solidFill>
                <a:srgbClr val="4A4E80"/>
              </a:solidFill>
              <a:effectLst/>
            </c:spPr>
            <c:extLst>
              <c:ext xmlns:c16="http://schemas.microsoft.com/office/drawing/2014/chart" uri="{C3380CC4-5D6E-409C-BE32-E72D297353CC}">
                <c16:uniqueId val="{00000005-8C9A-44DF-BF34-6C7D036471C2}"/>
              </c:ext>
            </c:extLst>
          </c:dPt>
          <c:dPt>
            <c:idx val="3"/>
            <c:invertIfNegative val="0"/>
            <c:bubble3D val="0"/>
            <c:spPr>
              <a:solidFill>
                <a:srgbClr val="4A4E80"/>
              </a:solidFill>
              <a:effectLst/>
            </c:spPr>
            <c:extLst>
              <c:ext xmlns:c16="http://schemas.microsoft.com/office/drawing/2014/chart" uri="{C3380CC4-5D6E-409C-BE32-E72D297353CC}">
                <c16:uniqueId val="{00000007-8C9A-44DF-BF34-6C7D036471C2}"/>
              </c:ext>
            </c:extLst>
          </c:dPt>
          <c:dPt>
            <c:idx val="4"/>
            <c:invertIfNegative val="0"/>
            <c:bubble3D val="0"/>
            <c:spPr>
              <a:solidFill>
                <a:srgbClr val="4A4E80"/>
              </a:solidFill>
              <a:effectLst/>
            </c:spPr>
            <c:extLst>
              <c:ext xmlns:c16="http://schemas.microsoft.com/office/drawing/2014/chart" uri="{C3380CC4-5D6E-409C-BE32-E72D297353CC}">
                <c16:uniqueId val="{00000009-8C9A-44DF-BF34-6C7D036471C2}"/>
              </c:ext>
            </c:extLst>
          </c:dPt>
          <c:dPt>
            <c:idx val="5"/>
            <c:invertIfNegative val="0"/>
            <c:bubble3D val="0"/>
            <c:spPr>
              <a:solidFill>
                <a:srgbClr val="4A4E80"/>
              </a:solidFill>
              <a:effectLst/>
            </c:spPr>
            <c:extLst>
              <c:ext xmlns:c16="http://schemas.microsoft.com/office/drawing/2014/chart" uri="{C3380CC4-5D6E-409C-BE32-E72D297353CC}">
                <c16:uniqueId val="{0000000B-8C9A-44DF-BF34-6C7D036471C2}"/>
              </c:ext>
            </c:extLst>
          </c:dPt>
          <c:dLbls>
            <c:numFmt formatCode="0.0&quot;%&quot;" sourceLinked="0"/>
            <c:spPr>
              <a:noFill/>
              <a:ln>
                <a:noFill/>
              </a:ln>
              <a:effectLst/>
            </c:spPr>
            <c:txPr>
              <a:bodyPr/>
              <a:lstStyle/>
              <a:p>
                <a:pPr>
                  <a:defRPr sz="1100" b="1" i="0" u="none" strike="noStrike">
                    <a:solidFill>
                      <a:srgbClr val="FFFFF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SIEM</c:v>
                </c:pt>
                <c:pt idx="1">
                  <c:v>EDR</c:v>
                </c:pt>
                <c:pt idx="2">
                  <c:v>IDS/IPS</c:v>
                </c:pt>
                <c:pt idx="3">
                  <c:v>Threat Intel</c:v>
                </c:pt>
                <c:pt idx="4">
                  <c:v>User Report</c:v>
                </c:pt>
                <c:pt idx="5">
                  <c:v>Firewall</c:v>
                </c:pt>
              </c:strCache>
            </c:strRef>
          </c:cat>
          <c:val>
            <c:numRef>
              <c:f>Sheet1!$B$2:$B$7</c:f>
              <c:numCache>
                <c:formatCode>General</c:formatCode>
                <c:ptCount val="6"/>
                <c:pt idx="0">
                  <c:v>30.1</c:v>
                </c:pt>
                <c:pt idx="1">
                  <c:v>24.1</c:v>
                </c:pt>
                <c:pt idx="2">
                  <c:v>18.0</c:v>
                </c:pt>
                <c:pt idx="3">
                  <c:v>11.9</c:v>
                </c:pt>
                <c:pt idx="4">
                  <c:v>9.9</c:v>
                </c:pt>
                <c:pt idx="5">
                  <c:v>6.0</c:v>
                </c:pt>
              </c:numCache>
            </c:numRef>
          </c:val>
          <c:extLst>
            <c:ext xmlns:c16="http://schemas.microsoft.com/office/drawing/2014/chart" uri="{C3380CC4-5D6E-409C-BE32-E72D297353CC}">
              <c16:uniqueId val="{0000000C-8C9A-44DF-BF34-6C7D036471C2}"/>
            </c:ext>
          </c:extLst>
        </c:ser>
        <c:dLbls>
          <c:showLegendKey val="0"/>
          <c:showVal val="1"/>
          <c:showCatName val="0"/>
          <c:showSerName val="0"/>
          <c:showPercent val="0"/>
          <c:showBubbleSize val="0"/>
        </c:dLbls>
        <c:gapWidth val="3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B4B8D4"/>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8465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project: an interactive dashboard giving security leadership one view of 80,200 incidents from 2020 to September 2026. The four numbers along the bottom are the whole story: volume has more than doubled, ransomware is the fastest-growing category and is now the largest, response is much faster, and the mitigation rate has reached the 90% target for the first time in 2026 year to date. 2026 covers January to September only.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 the dashboard as answering four management questions, each mapped to a part of the dashboard. The raw file was deliberately messy: 1,203 duplicates dropped, inconsistent labels such as PHISING and DDOS mapped to six standard names, mixed date formats and dollar-sign text parsed, impossible response times replaced with the category and severity median, missing country and industry labelled Unknown and kept out of the charts. The 2025 and 2026 records were added in a second batch with the same cleaning rules; the 2020 to 2024 figures are unchanged. The data is synthetic.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how to read the main view: bubbles are categories sized by count, hubs show each category's share, small nodes are sub-types and the centre ring is the mitigation rate. The year buttons (2020 to 2026) update every visual and hovering shows tooltips. 2026 is marked with an asterisk because it covers January to September only.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Volume grows every full year, from 7,200 in 2020 to 16,000 in 2025, and Critical incidents grow faster than the total. 2026 covers January to September: 12,600 incidents, about 9% above the same nine months of 2025. The category mix keeps shifting: ransomware goes from 12% to 27% while malware's share falls from 24% to 14%. In 2026 year to date ransomware (27%) overtakes phishing (26%) as the largest single category.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Ransomware accounts for about $6.7B of the $10.4B estimated impact from 2020 to September 2026, even though phishing has had more incidents over the period. Attack origin is concentrated: China and Russia together account for 35% of incidents. Finance and Healthcare are the most targeted industries. Rows with unknown country or industry are excluded.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Both response measures improve every year: mean time to respond fell 46% (3.21 to 1.74 hours) and SLA compliance rose from 65% to 91%. SIEM and EDR together detect 54% of incidents, so detection leans on two tools. In 2026 year to date, 98.6% of incidents are triaged, 95.1% contained and 90.2% mitigated.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actions, each tied to a finding. Ransomware readiness first because it is the fastest-growing, now the largest, and highest-impact category. Staff before the autumn peak to protect response times; December has run about 14% above an average month. A weekly backlog review is how the 2026 mitigation rate of 90.2% is held at or above target. Keep phishing controls because phishing is still close behind ransomware. Close on the one-line message and point to the four deliverables in the submission zip; repeat that the data is synthetic and that 2026 covers January to September.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097280"/>
            <a:ext cx="5394960" cy="201168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71600"/>
            <a:ext cx="7863840" cy="228600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bg2"/>
                </a:solidFill>
              </a:rPr>
              <a:t>Cybersecurity Threat Intelligence Dashboard</a:t>
            </a:r>
            <a:endParaRPr lang="en-US" sz="10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chart" Target="../charts/chart2.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chart" Target="../charts/chart4.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chart" Target="../charts/char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otif circle violet"/>
          <p:cNvSpPr/>
          <p:nvPr/>
        </p:nvSpPr>
        <p:spPr>
          <a:xfrm>
            <a:off x="10972800" y="228600"/>
            <a:ext cx="685800" cy="685800"/>
          </a:xfrm>
          <a:prstGeom prst="ellipse">
            <a:avLst/>
          </a:prstGeom>
          <a:solidFill>
            <a:srgbClr val="5B3AE0"/>
          </a:solidFill>
          <a:ln/>
        </p:spPr>
      </p:sp>
      <p:sp>
        <p:nvSpPr>
          <p:cNvPr id="3" name="Motif circle pink"/>
          <p:cNvSpPr/>
          <p:nvPr/>
        </p:nvSpPr>
        <p:spPr>
          <a:xfrm>
            <a:off x="5669280" y="3840480"/>
            <a:ext cx="457200" cy="457200"/>
          </a:xfrm>
          <a:prstGeom prst="ellipse">
            <a:avLst/>
          </a:prstGeom>
          <a:solidFill>
            <a:srgbClr val="EC1F8C"/>
          </a:solidFill>
          <a:ln/>
        </p:spPr>
      </p:sp>
      <p:sp>
        <p:nvSpPr>
          <p:cNvPr id="4" name="Text 2"/>
          <p:cNvSpPr txBox="1"/>
          <p:nvPr/>
        </p:nvSpPr>
        <p:spPr>
          <a:xfrm>
            <a:off x="640080" y="685800"/>
            <a:ext cx="5486400" cy="320040"/>
          </a:xfrm>
          <a:prstGeom prst="rect">
            <a:avLst/>
          </a:prstGeom>
          <a:noFill/>
          <a:ln/>
        </p:spPr>
        <p:txBody>
          <a:bodyPr wrap="square" lIns="0" tIns="0" rIns="0" bIns="0" rtlCol="0" anchor="t"/>
          <a:lstStyle/>
          <a:p>
            <a:pPr marL="0" indent="0">
              <a:buNone/>
            </a:pPr>
            <a:r>
              <a:rPr lang="en-US" sz="1300" b="1" kern="0" spc="300" dirty="0">
                <a:solidFill>
                  <a:schemeClr val="accent3"/>
                </a:solidFill>
              </a:rPr>
              <a:t>ADSF  |  DATA VISUALIZATION PROJECT</a:t>
            </a:r>
            <a:endParaRPr lang="en-US" sz="1300" dirty="0"/>
          </a:p>
        </p:txBody>
      </p:sp>
      <p:sp>
        <p:nvSpPr>
          <p:cNvPr id="5" name="Text 0"/>
          <p:cNvSpPr>
            <a:spLocks noGrp="1"/>
          </p:cNvSpPr>
          <p:nvPr>
            <p:ph type="title" idx="100" hasCustomPrompt="1"/>
          </p:nvPr>
        </p:nvSpPr>
        <p:spPr>
          <a:xfrm>
            <a:off x="640080" y="1097280"/>
            <a:ext cx="5394960" cy="2011680"/>
          </a:xfrm>
          <a:prstGeom prst="rect">
            <a:avLst/>
          </a:prstGeom>
          <a:noFill/>
          <a:ln/>
        </p:spPr>
        <p:txBody>
          <a:bodyPr wrap="square" lIns="0" tIns="0" rIns="0" bIns="0" rtlCol="0" anchor="t"/>
          <a:lstStyle/>
          <a:p>
            <a:pPr marL="0" indent="0" algn="l">
              <a:buNone/>
            </a:pPr>
            <a:r>
              <a:rPr lang="en-US" sz="4000" b="1" dirty="0">
                <a:solidFill>
                  <a:schemeClr val="bg1"/>
                </a:solidFill>
              </a:rPr>
              <a:t>Cybersecurity Threat Intelligence Dashboard</a:t>
            </a:r>
            <a:endParaRPr lang="en-US" sz="4000" dirty="0"/>
          </a:p>
        </p:txBody>
      </p:sp>
      <p:sp>
        <p:nvSpPr>
          <p:cNvPr id="6" name="Text 4"/>
          <p:cNvSpPr txBox="1"/>
          <p:nvPr/>
        </p:nvSpPr>
        <p:spPr>
          <a:xfrm>
            <a:off x="640080" y="2788920"/>
            <a:ext cx="5394960" cy="365760"/>
          </a:xfrm>
          <a:prstGeom prst="rect">
            <a:avLst/>
          </a:prstGeom>
          <a:noFill/>
          <a:ln/>
        </p:spPr>
        <p:txBody>
          <a:bodyPr wrap="square" lIns="0" tIns="0" rIns="0" bIns="0" rtlCol="0" anchor="t"/>
          <a:lstStyle/>
          <a:p>
            <a:pPr marL="0" indent="0">
              <a:buNone/>
            </a:pPr>
            <a:r>
              <a:rPr lang="en-US" sz="1800" dirty="0">
                <a:solidFill>
                  <a:schemeClr val="bg2"/>
                </a:solidFill>
              </a:rPr>
              <a:t>80,200 security incidents, 2020 to Sep 2026</a:t>
            </a:r>
            <a:endParaRPr lang="en-US" sz="1800" dirty="0"/>
          </a:p>
        </p:txBody>
      </p:sp>
      <p:sp>
        <p:nvSpPr>
          <p:cNvPr id="7" name="Tool chip Python"/>
          <p:cNvSpPr/>
          <p:nvPr/>
        </p:nvSpPr>
        <p:spPr>
          <a:xfrm>
            <a:off x="640080" y="3429000"/>
            <a:ext cx="868680" cy="384048"/>
          </a:xfrm>
          <a:prstGeom prst="roundRect">
            <a:avLst>
              <a:gd name="adj" fmla="val 50000"/>
            </a:avLst>
          </a:prstGeom>
          <a:solidFill>
            <a:schemeClr val="tx2"/>
          </a:solidFill>
          <a:ln/>
        </p:spPr>
      </p:sp>
      <p:sp>
        <p:nvSpPr>
          <p:cNvPr id="8" name="Text 6"/>
          <p:cNvSpPr txBox="1"/>
          <p:nvPr/>
        </p:nvSpPr>
        <p:spPr>
          <a:xfrm>
            <a:off x="640080" y="3429000"/>
            <a:ext cx="868680" cy="384048"/>
          </a:xfrm>
          <a:prstGeom prst="rect">
            <a:avLst/>
          </a:prstGeom>
          <a:noFill/>
          <a:ln/>
        </p:spPr>
        <p:txBody>
          <a:bodyPr wrap="square" lIns="0" tIns="0" rIns="0" bIns="0" rtlCol="0" anchor="ctr"/>
          <a:lstStyle/>
          <a:p>
            <a:pPr marL="0" indent="0" algn="ctr">
              <a:buNone/>
            </a:pPr>
            <a:r>
              <a:rPr lang="en-US" sz="1300" dirty="0">
                <a:solidFill>
                  <a:schemeClr val="bg1"/>
                </a:solidFill>
              </a:rPr>
              <a:t>Python</a:t>
            </a:r>
            <a:endParaRPr lang="en-US" sz="1300" dirty="0"/>
          </a:p>
        </p:txBody>
      </p:sp>
      <p:sp>
        <p:nvSpPr>
          <p:cNvPr id="9" name="Tool chip SQL"/>
          <p:cNvSpPr/>
          <p:nvPr/>
        </p:nvSpPr>
        <p:spPr>
          <a:xfrm>
            <a:off x="1645920" y="3429000"/>
            <a:ext cx="594360" cy="384048"/>
          </a:xfrm>
          <a:prstGeom prst="roundRect">
            <a:avLst>
              <a:gd name="adj" fmla="val 50000"/>
            </a:avLst>
          </a:prstGeom>
          <a:solidFill>
            <a:schemeClr val="tx2"/>
          </a:solidFill>
          <a:ln/>
        </p:spPr>
      </p:sp>
      <p:sp>
        <p:nvSpPr>
          <p:cNvPr id="10" name="Text 8"/>
          <p:cNvSpPr txBox="1"/>
          <p:nvPr/>
        </p:nvSpPr>
        <p:spPr>
          <a:xfrm>
            <a:off x="1645920" y="3429000"/>
            <a:ext cx="594360" cy="384048"/>
          </a:xfrm>
          <a:prstGeom prst="rect">
            <a:avLst/>
          </a:prstGeom>
          <a:noFill/>
          <a:ln/>
        </p:spPr>
        <p:txBody>
          <a:bodyPr wrap="square" lIns="0" tIns="0" rIns="0" bIns="0" rtlCol="0" anchor="ctr"/>
          <a:lstStyle/>
          <a:p>
            <a:pPr marL="0" indent="0" algn="ctr">
              <a:buNone/>
            </a:pPr>
            <a:r>
              <a:rPr lang="en-US" sz="1300" dirty="0">
                <a:solidFill>
                  <a:schemeClr val="bg1"/>
                </a:solidFill>
              </a:rPr>
              <a:t>SQL</a:t>
            </a:r>
            <a:endParaRPr lang="en-US" sz="1300" dirty="0"/>
          </a:p>
        </p:txBody>
      </p:sp>
      <p:sp>
        <p:nvSpPr>
          <p:cNvPr id="11" name="Tool chip Excel"/>
          <p:cNvSpPr/>
          <p:nvPr/>
        </p:nvSpPr>
        <p:spPr>
          <a:xfrm>
            <a:off x="2377440" y="3429000"/>
            <a:ext cx="777240" cy="384048"/>
          </a:xfrm>
          <a:prstGeom prst="roundRect">
            <a:avLst>
              <a:gd name="adj" fmla="val 50000"/>
            </a:avLst>
          </a:prstGeom>
          <a:solidFill>
            <a:schemeClr val="tx2"/>
          </a:solidFill>
          <a:ln/>
        </p:spPr>
      </p:sp>
      <p:sp>
        <p:nvSpPr>
          <p:cNvPr id="12" name="Text 10"/>
          <p:cNvSpPr txBox="1"/>
          <p:nvPr/>
        </p:nvSpPr>
        <p:spPr>
          <a:xfrm>
            <a:off x="2377440" y="3429000"/>
            <a:ext cx="777240" cy="384048"/>
          </a:xfrm>
          <a:prstGeom prst="rect">
            <a:avLst/>
          </a:prstGeom>
          <a:noFill/>
          <a:ln/>
        </p:spPr>
        <p:txBody>
          <a:bodyPr wrap="square" lIns="0" tIns="0" rIns="0" bIns="0" rtlCol="0" anchor="ctr"/>
          <a:lstStyle/>
          <a:p>
            <a:pPr marL="0" indent="0" algn="ctr">
              <a:buNone/>
            </a:pPr>
            <a:r>
              <a:rPr lang="en-US" sz="1300" dirty="0">
                <a:solidFill>
                  <a:schemeClr val="bg1"/>
                </a:solidFill>
              </a:rPr>
              <a:t>Excel</a:t>
            </a:r>
            <a:endParaRPr lang="en-US" sz="1300" dirty="0"/>
          </a:p>
        </p:txBody>
      </p:sp>
      <p:sp>
        <p:nvSpPr>
          <p:cNvPr id="13" name="Tool chip HTML / SVG"/>
          <p:cNvSpPr/>
          <p:nvPr/>
        </p:nvSpPr>
        <p:spPr>
          <a:xfrm>
            <a:off x="3291840" y="3429000"/>
            <a:ext cx="1234440" cy="384048"/>
          </a:xfrm>
          <a:prstGeom prst="roundRect">
            <a:avLst>
              <a:gd name="adj" fmla="val 50000"/>
            </a:avLst>
          </a:prstGeom>
          <a:solidFill>
            <a:schemeClr val="tx2"/>
          </a:solidFill>
          <a:ln/>
        </p:spPr>
      </p:sp>
      <p:sp>
        <p:nvSpPr>
          <p:cNvPr id="14" name="Text 12"/>
          <p:cNvSpPr txBox="1"/>
          <p:nvPr/>
        </p:nvSpPr>
        <p:spPr>
          <a:xfrm>
            <a:off x="3291840" y="3429000"/>
            <a:ext cx="1234440" cy="384048"/>
          </a:xfrm>
          <a:prstGeom prst="rect">
            <a:avLst/>
          </a:prstGeom>
          <a:noFill/>
          <a:ln/>
        </p:spPr>
        <p:txBody>
          <a:bodyPr wrap="square" lIns="0" tIns="0" rIns="0" bIns="0" rtlCol="0" anchor="ctr"/>
          <a:lstStyle/>
          <a:p>
            <a:pPr marL="0" indent="0" algn="ctr">
              <a:buNone/>
            </a:pPr>
            <a:r>
              <a:rPr lang="en-US" sz="1300" dirty="0">
                <a:solidFill>
                  <a:schemeClr val="bg1"/>
                </a:solidFill>
              </a:rPr>
              <a:t>HTML / SVG</a:t>
            </a:r>
            <a:endParaRPr lang="en-US" sz="1300" dirty="0"/>
          </a:p>
        </p:txBody>
      </p:sp>
      <p:sp>
        <p:nvSpPr>
          <p:cNvPr id="15" name="Screenshot frame"/>
          <p:cNvSpPr/>
          <p:nvPr/>
        </p:nvSpPr>
        <p:spPr>
          <a:xfrm>
            <a:off x="6254496" y="950976"/>
            <a:ext cx="5440680" cy="2997327"/>
          </a:xfrm>
          <a:prstGeom prst="roundRect">
            <a:avLst>
              <a:gd name="adj" fmla="val 2441"/>
            </a:avLst>
          </a:prstGeom>
          <a:solidFill>
            <a:schemeClr val="tx2"/>
          </a:solidFill>
          <a:ln/>
        </p:spPr>
      </p:sp>
      <p:pic>
        <p:nvPicPr>
          <p:cNvPr id="16" name="Image 0" descr="Dashboard Threat Categories view, 2024"/>
          <p:cNvPicPr>
            <a:picLocks noChangeAspect="1"/>
          </p:cNvPicPr>
          <p:nvPr/>
        </p:nvPicPr>
        <p:blipFill>
          <a:blip r:embed="rId3"/>
          <a:stretch>
            <a:fillRect/>
          </a:stretch>
        </p:blipFill>
        <p:spPr>
          <a:xfrm>
            <a:off x="6309360" y="1005840"/>
            <a:ext cx="5330952" cy="2887599"/>
          </a:xfrm>
          <a:prstGeom prst="rect">
            <a:avLst/>
          </a:prstGeom>
        </p:spPr>
      </p:pic>
      <p:sp>
        <p:nvSpPr>
          <p:cNvPr id="17" name="Headline KPI 1"/>
          <p:cNvSpPr/>
          <p:nvPr/>
        </p:nvSpPr>
        <p:spPr>
          <a:xfrm>
            <a:off x="640080" y="4617720"/>
            <a:ext cx="2606040" cy="1554480"/>
          </a:xfrm>
          <a:prstGeom prst="roundRect">
            <a:avLst>
              <a:gd name="adj" fmla="val 7059"/>
            </a:avLst>
          </a:prstGeom>
          <a:solidFill>
            <a:schemeClr val="tx2"/>
          </a:solidFill>
          <a:ln/>
        </p:spPr>
      </p:sp>
      <p:sp>
        <p:nvSpPr>
          <p:cNvPr id="18" name="Text 15"/>
          <p:cNvSpPr txBox="1"/>
          <p:nvPr/>
        </p:nvSpPr>
        <p:spPr>
          <a:xfrm>
            <a:off x="868680" y="4727448"/>
            <a:ext cx="2240280" cy="594360"/>
          </a:xfrm>
          <a:prstGeom prst="rect">
            <a:avLst/>
          </a:prstGeom>
          <a:noFill/>
          <a:ln/>
        </p:spPr>
        <p:txBody>
          <a:bodyPr wrap="square" lIns="0" tIns="0" rIns="0" bIns="0" rtlCol="0" anchor="ctr"/>
          <a:lstStyle/>
          <a:p>
            <a:pPr marL="0" indent="0">
              <a:buNone/>
            </a:pPr>
            <a:r>
              <a:rPr lang="en-US" sz="3800" b="1" dirty="0">
                <a:solidFill>
                  <a:schemeClr val="accent2"/>
                </a:solidFill>
                <a:latin typeface="Cambria" pitchFamily="34" charset="0"/>
                <a:ea typeface="Cambria" pitchFamily="34" charset="-122"/>
                <a:cs typeface="Cambria" pitchFamily="34" charset="-120"/>
              </a:rPr>
              <a:t>+122%</a:t>
            </a:r>
            <a:endParaRPr lang="en-US" sz="3800" dirty="0"/>
          </a:p>
        </p:txBody>
      </p:sp>
      <p:sp>
        <p:nvSpPr>
          <p:cNvPr id="19" name="Text 16"/>
          <p:cNvSpPr txBox="1"/>
          <p:nvPr/>
        </p:nvSpPr>
        <p:spPr>
          <a:xfrm>
            <a:off x="868680" y="5349240"/>
            <a:ext cx="2240280" cy="274320"/>
          </a:xfrm>
          <a:prstGeom prst="rect">
            <a:avLst/>
          </a:prstGeom>
          <a:noFill/>
          <a:ln/>
        </p:spPr>
        <p:txBody>
          <a:bodyPr wrap="square" lIns="0" tIns="0" rIns="0" bIns="0" rtlCol="0" anchor="t"/>
          <a:lstStyle/>
          <a:p>
            <a:pPr marL="0" indent="0">
              <a:buNone/>
            </a:pPr>
            <a:r>
              <a:rPr lang="en-US" sz="1400" b="1" dirty="0">
                <a:solidFill>
                  <a:schemeClr val="bg1"/>
                </a:solidFill>
              </a:rPr>
              <a:t>more incidents</a:t>
            </a:r>
            <a:endParaRPr lang="en-US" sz="1400" dirty="0"/>
          </a:p>
        </p:txBody>
      </p:sp>
      <p:sp>
        <p:nvSpPr>
          <p:cNvPr id="20" name="Text 17"/>
          <p:cNvSpPr txBox="1"/>
          <p:nvPr/>
        </p:nvSpPr>
        <p:spPr>
          <a:xfrm>
            <a:off x="868680" y="5623560"/>
            <a:ext cx="2240280" cy="502920"/>
          </a:xfrm>
          <a:prstGeom prst="rect">
            <a:avLst/>
          </a:prstGeom>
          <a:noFill/>
          <a:ln/>
        </p:spPr>
        <p:txBody>
          <a:bodyPr wrap="square" lIns="0" tIns="0" rIns="0" bIns="0" rtlCol="0" anchor="t"/>
          <a:lstStyle/>
          <a:p>
            <a:pPr marL="0" indent="0">
              <a:buNone/>
            </a:pPr>
            <a:r>
              <a:rPr lang="en-US" sz="1200" dirty="0">
                <a:solidFill>
                  <a:schemeClr val="bg2"/>
                </a:solidFill>
              </a:rPr>
              <a:t>7,200 in 2020 to 16,000 in 2025</a:t>
            </a:r>
            <a:endParaRPr lang="en-US" sz="1200" dirty="0"/>
          </a:p>
        </p:txBody>
      </p:sp>
      <p:sp>
        <p:nvSpPr>
          <p:cNvPr id="21" name="Headline KPI 2"/>
          <p:cNvSpPr/>
          <p:nvPr/>
        </p:nvSpPr>
        <p:spPr>
          <a:xfrm>
            <a:off x="3429000" y="4617720"/>
            <a:ext cx="2606040" cy="1554480"/>
          </a:xfrm>
          <a:prstGeom prst="roundRect">
            <a:avLst>
              <a:gd name="adj" fmla="val 7059"/>
            </a:avLst>
          </a:prstGeom>
          <a:solidFill>
            <a:schemeClr val="tx2"/>
          </a:solidFill>
          <a:ln/>
        </p:spPr>
      </p:sp>
      <p:sp>
        <p:nvSpPr>
          <p:cNvPr id="22" name="Text 19"/>
          <p:cNvSpPr txBox="1"/>
          <p:nvPr/>
        </p:nvSpPr>
        <p:spPr>
          <a:xfrm>
            <a:off x="3657600" y="4727448"/>
            <a:ext cx="2240280" cy="594360"/>
          </a:xfrm>
          <a:prstGeom prst="rect">
            <a:avLst/>
          </a:prstGeom>
          <a:noFill/>
          <a:ln/>
        </p:spPr>
        <p:txBody>
          <a:bodyPr wrap="square" lIns="0" tIns="0" rIns="0" bIns="0" rtlCol="0" anchor="ctr"/>
          <a:lstStyle/>
          <a:p>
            <a:pPr marL="0" indent="0">
              <a:buNone/>
            </a:pPr>
            <a:r>
              <a:rPr lang="en-US" sz="3800" b="1" dirty="0">
                <a:solidFill>
                  <a:schemeClr val="accent1"/>
                </a:solidFill>
                <a:latin typeface="Cambria" pitchFamily="34" charset="0"/>
                <a:ea typeface="Cambria" pitchFamily="34" charset="-122"/>
                <a:cs typeface="Cambria" pitchFamily="34" charset="-120"/>
              </a:rPr>
              <a:t>27%</a:t>
            </a:r>
            <a:endParaRPr lang="en-US" sz="3800" dirty="0"/>
          </a:p>
        </p:txBody>
      </p:sp>
      <p:sp>
        <p:nvSpPr>
          <p:cNvPr id="23" name="Text 20"/>
          <p:cNvSpPr txBox="1"/>
          <p:nvPr/>
        </p:nvSpPr>
        <p:spPr>
          <a:xfrm>
            <a:off x="3657600" y="5349240"/>
            <a:ext cx="2240280" cy="274320"/>
          </a:xfrm>
          <a:prstGeom prst="rect">
            <a:avLst/>
          </a:prstGeom>
          <a:noFill/>
          <a:ln/>
        </p:spPr>
        <p:txBody>
          <a:bodyPr wrap="square" lIns="0" tIns="0" rIns="0" bIns="0" rtlCol="0" anchor="t"/>
          <a:lstStyle/>
          <a:p>
            <a:pPr marL="0" indent="0">
              <a:buNone/>
            </a:pPr>
            <a:r>
              <a:rPr lang="en-US" sz="1400" b="1" dirty="0">
                <a:solidFill>
                  <a:schemeClr val="bg1"/>
                </a:solidFill>
              </a:rPr>
              <a:t>ransomware share, 2026</a:t>
            </a:r>
            <a:endParaRPr lang="en-US" sz="1400" dirty="0"/>
          </a:p>
        </p:txBody>
      </p:sp>
      <p:sp>
        <p:nvSpPr>
          <p:cNvPr id="24" name="Text 21"/>
          <p:cNvSpPr txBox="1"/>
          <p:nvPr/>
        </p:nvSpPr>
        <p:spPr>
          <a:xfrm>
            <a:off x="3657600" y="5623560"/>
            <a:ext cx="2240280" cy="502920"/>
          </a:xfrm>
          <a:prstGeom prst="rect">
            <a:avLst/>
          </a:prstGeom>
          <a:noFill/>
          <a:ln/>
        </p:spPr>
        <p:txBody>
          <a:bodyPr wrap="square" lIns="0" tIns="0" rIns="0" bIns="0" rtlCol="0" anchor="t"/>
          <a:lstStyle/>
          <a:p>
            <a:pPr marL="0" indent="0">
              <a:buNone/>
            </a:pPr>
            <a:r>
              <a:rPr lang="en-US" sz="1200" dirty="0">
                <a:solidFill>
                  <a:schemeClr val="bg2"/>
                </a:solidFill>
              </a:rPr>
              <a:t>up from 12% of all incidents in 2020</a:t>
            </a:r>
            <a:endParaRPr lang="en-US" sz="1200" dirty="0"/>
          </a:p>
        </p:txBody>
      </p:sp>
      <p:sp>
        <p:nvSpPr>
          <p:cNvPr id="25" name="Headline KPI 3"/>
          <p:cNvSpPr/>
          <p:nvPr/>
        </p:nvSpPr>
        <p:spPr>
          <a:xfrm>
            <a:off x="6217920" y="4617720"/>
            <a:ext cx="2606040" cy="1554480"/>
          </a:xfrm>
          <a:prstGeom prst="roundRect">
            <a:avLst>
              <a:gd name="adj" fmla="val 7059"/>
            </a:avLst>
          </a:prstGeom>
          <a:solidFill>
            <a:schemeClr val="tx2"/>
          </a:solidFill>
          <a:ln/>
        </p:spPr>
      </p:sp>
      <p:sp>
        <p:nvSpPr>
          <p:cNvPr id="26" name="Text 23"/>
          <p:cNvSpPr txBox="1"/>
          <p:nvPr/>
        </p:nvSpPr>
        <p:spPr>
          <a:xfrm>
            <a:off x="6446520" y="4727448"/>
            <a:ext cx="2240280" cy="594360"/>
          </a:xfrm>
          <a:prstGeom prst="rect">
            <a:avLst/>
          </a:prstGeom>
          <a:noFill/>
          <a:ln/>
        </p:spPr>
        <p:txBody>
          <a:bodyPr wrap="square" lIns="0" tIns="0" rIns="0" bIns="0" rtlCol="0" anchor="ctr"/>
          <a:lstStyle/>
          <a:p>
            <a:pPr marL="0" indent="0">
              <a:buNone/>
            </a:pPr>
            <a:r>
              <a:rPr lang="en-US" sz="3800" b="1" dirty="0">
                <a:solidFill>
                  <a:schemeClr val="accent3"/>
                </a:solidFill>
                <a:latin typeface="Cambria" pitchFamily="34" charset="0"/>
                <a:ea typeface="Cambria" pitchFamily="34" charset="-122"/>
                <a:cs typeface="Cambria" pitchFamily="34" charset="-120"/>
              </a:rPr>
              <a:t>-46%</a:t>
            </a:r>
            <a:endParaRPr lang="en-US" sz="3800" dirty="0"/>
          </a:p>
        </p:txBody>
      </p:sp>
      <p:sp>
        <p:nvSpPr>
          <p:cNvPr id="27" name="Text 24"/>
          <p:cNvSpPr txBox="1"/>
          <p:nvPr/>
        </p:nvSpPr>
        <p:spPr>
          <a:xfrm>
            <a:off x="6446520" y="5349240"/>
            <a:ext cx="2240280" cy="274320"/>
          </a:xfrm>
          <a:prstGeom prst="rect">
            <a:avLst/>
          </a:prstGeom>
          <a:noFill/>
          <a:ln/>
        </p:spPr>
        <p:txBody>
          <a:bodyPr wrap="square" lIns="0" tIns="0" rIns="0" bIns="0" rtlCol="0" anchor="t"/>
          <a:lstStyle/>
          <a:p>
            <a:pPr marL="0" indent="0">
              <a:buNone/>
            </a:pPr>
            <a:r>
              <a:rPr lang="en-US" sz="1400" b="1" dirty="0">
                <a:solidFill>
                  <a:schemeClr val="bg1"/>
                </a:solidFill>
              </a:rPr>
              <a:t>time to respond</a:t>
            </a:r>
            <a:endParaRPr lang="en-US" sz="1400" dirty="0"/>
          </a:p>
        </p:txBody>
      </p:sp>
      <p:sp>
        <p:nvSpPr>
          <p:cNvPr id="28" name="Text 25"/>
          <p:cNvSpPr txBox="1"/>
          <p:nvPr/>
        </p:nvSpPr>
        <p:spPr>
          <a:xfrm>
            <a:off x="6446520" y="5623560"/>
            <a:ext cx="2240280" cy="502920"/>
          </a:xfrm>
          <a:prstGeom prst="rect">
            <a:avLst/>
          </a:prstGeom>
          <a:noFill/>
          <a:ln/>
        </p:spPr>
        <p:txBody>
          <a:bodyPr wrap="square" lIns="0" tIns="0" rIns="0" bIns="0" rtlCol="0" anchor="t"/>
          <a:lstStyle/>
          <a:p>
            <a:pPr marL="0" indent="0">
              <a:buNone/>
            </a:pPr>
            <a:r>
              <a:rPr lang="en-US" sz="1200" dirty="0">
                <a:solidFill>
                  <a:schemeClr val="bg2"/>
                </a:solidFill>
              </a:rPr>
              <a:t>mean response 3.21 to 1.74 hours</a:t>
            </a:r>
            <a:endParaRPr lang="en-US" sz="1200" dirty="0"/>
          </a:p>
        </p:txBody>
      </p:sp>
      <p:sp>
        <p:nvSpPr>
          <p:cNvPr id="29" name="Headline KPI 4"/>
          <p:cNvSpPr/>
          <p:nvPr/>
        </p:nvSpPr>
        <p:spPr>
          <a:xfrm>
            <a:off x="9006840" y="4617720"/>
            <a:ext cx="2606040" cy="1554480"/>
          </a:xfrm>
          <a:prstGeom prst="roundRect">
            <a:avLst>
              <a:gd name="adj" fmla="val 7059"/>
            </a:avLst>
          </a:prstGeom>
          <a:solidFill>
            <a:schemeClr val="tx2"/>
          </a:solidFill>
          <a:ln/>
        </p:spPr>
      </p:sp>
      <p:sp>
        <p:nvSpPr>
          <p:cNvPr id="30" name="Text 27"/>
          <p:cNvSpPr txBox="1"/>
          <p:nvPr/>
        </p:nvSpPr>
        <p:spPr>
          <a:xfrm>
            <a:off x="9235440" y="4727448"/>
            <a:ext cx="2240280" cy="594360"/>
          </a:xfrm>
          <a:prstGeom prst="rect">
            <a:avLst/>
          </a:prstGeom>
          <a:noFill/>
          <a:ln/>
        </p:spPr>
        <p:txBody>
          <a:bodyPr wrap="square" lIns="0" tIns="0" rIns="0" bIns="0" rtlCol="0" anchor="ctr"/>
          <a:lstStyle/>
          <a:p>
            <a:pPr marL="0" indent="0">
              <a:buNone/>
            </a:pPr>
            <a:r>
              <a:rPr lang="en-US" sz="3800" b="1" dirty="0">
                <a:solidFill>
                  <a:schemeClr val="accent5"/>
                </a:solidFill>
                <a:latin typeface="Cambria" pitchFamily="34" charset="0"/>
                <a:ea typeface="Cambria" pitchFamily="34" charset="-122"/>
                <a:cs typeface="Cambria" pitchFamily="34" charset="-120"/>
              </a:rPr>
              <a:t>90.2%</a:t>
            </a:r>
            <a:endParaRPr lang="en-US" sz="3800" dirty="0"/>
          </a:p>
        </p:txBody>
      </p:sp>
      <p:sp>
        <p:nvSpPr>
          <p:cNvPr id="31" name="Text 28"/>
          <p:cNvSpPr txBox="1"/>
          <p:nvPr/>
        </p:nvSpPr>
        <p:spPr>
          <a:xfrm>
            <a:off x="9235440" y="5349240"/>
            <a:ext cx="2240280" cy="274320"/>
          </a:xfrm>
          <a:prstGeom prst="rect">
            <a:avLst/>
          </a:prstGeom>
          <a:noFill/>
          <a:ln/>
        </p:spPr>
        <p:txBody>
          <a:bodyPr wrap="square" lIns="0" tIns="0" rIns="0" bIns="0" rtlCol="0" anchor="t"/>
          <a:lstStyle/>
          <a:p>
            <a:pPr marL="0" indent="0">
              <a:buNone/>
            </a:pPr>
            <a:r>
              <a:rPr lang="en-US" sz="1400" b="1" dirty="0">
                <a:solidFill>
                  <a:schemeClr val="bg1"/>
                </a:solidFill>
              </a:rPr>
              <a:t>mitigation rate, 2026 YTD</a:t>
            </a:r>
            <a:endParaRPr lang="en-US" sz="1400" dirty="0"/>
          </a:p>
        </p:txBody>
      </p:sp>
      <p:sp>
        <p:nvSpPr>
          <p:cNvPr id="32" name="Text 29"/>
          <p:cNvSpPr txBox="1"/>
          <p:nvPr/>
        </p:nvSpPr>
        <p:spPr>
          <a:xfrm>
            <a:off x="9235440" y="5623560"/>
            <a:ext cx="2240280" cy="502920"/>
          </a:xfrm>
          <a:prstGeom prst="rect">
            <a:avLst/>
          </a:prstGeom>
          <a:noFill/>
          <a:ln/>
        </p:spPr>
        <p:txBody>
          <a:bodyPr wrap="square" lIns="0" tIns="0" rIns="0" bIns="0" rtlCol="0" anchor="t"/>
          <a:lstStyle/>
          <a:p>
            <a:pPr marL="0" indent="0">
              <a:buNone/>
            </a:pPr>
            <a:r>
              <a:rPr lang="en-US" sz="1200" dirty="0">
                <a:solidFill>
                  <a:schemeClr val="bg2"/>
                </a:solidFill>
              </a:rPr>
              <a:t>first year to reach the 90% target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200" b="1" dirty="0">
                <a:solidFill>
                  <a:schemeClr val="bg1"/>
                </a:solidFill>
              </a:rPr>
              <a:t>From four questions to 80,200 clean records</a:t>
            </a:r>
            <a:endParaRPr lang="en-US" sz="3200" dirty="0"/>
          </a:p>
        </p:txBody>
      </p:sp>
      <p:sp>
        <p:nvSpPr>
          <p:cNvPr id="3" name="Questions card"/>
          <p:cNvSpPr/>
          <p:nvPr/>
        </p:nvSpPr>
        <p:spPr>
          <a:xfrm>
            <a:off x="548640" y="1371600"/>
            <a:ext cx="5212080" cy="4846320"/>
          </a:xfrm>
          <a:prstGeom prst="roundRect">
            <a:avLst>
              <a:gd name="adj" fmla="val 2264"/>
            </a:avLst>
          </a:prstGeom>
          <a:solidFill>
            <a:schemeClr val="tx2"/>
          </a:solidFill>
          <a:ln/>
        </p:spPr>
      </p:sp>
      <p:sp>
        <p:nvSpPr>
          <p:cNvPr id="4" name="Text 2"/>
          <p:cNvSpPr txBox="1"/>
          <p:nvPr/>
        </p:nvSpPr>
        <p:spPr>
          <a:xfrm>
            <a:off x="822960" y="1554480"/>
            <a:ext cx="4663440" cy="274320"/>
          </a:xfrm>
          <a:prstGeom prst="rect">
            <a:avLst/>
          </a:prstGeom>
          <a:noFill/>
          <a:ln/>
        </p:spPr>
        <p:txBody>
          <a:bodyPr wrap="square" lIns="0" tIns="0" rIns="0" bIns="0" rtlCol="0" anchor="t"/>
          <a:lstStyle/>
          <a:p>
            <a:pPr marL="0" indent="0">
              <a:buNone/>
            </a:pPr>
            <a:r>
              <a:rPr lang="en-US" sz="1400" b="1" dirty="0">
                <a:solidFill>
                  <a:schemeClr val="bg2"/>
                </a:solidFill>
              </a:rPr>
              <a:t>Questions leadership asks</a:t>
            </a:r>
            <a:endParaRPr lang="en-US" sz="1400" dirty="0"/>
          </a:p>
        </p:txBody>
      </p:sp>
      <p:sp>
        <p:nvSpPr>
          <p:cNvPr id="5" name="Icon circle FaChartLine"/>
          <p:cNvSpPr/>
          <p:nvPr/>
        </p:nvSpPr>
        <p:spPr>
          <a:xfrm>
            <a:off x="822960" y="2057400"/>
            <a:ext cx="640080" cy="640080"/>
          </a:xfrm>
          <a:prstGeom prst="ellipse">
            <a:avLst/>
          </a:prstGeom>
          <a:solidFill>
            <a:srgbClr val="5B3AE0"/>
          </a:solidFill>
          <a:ln/>
        </p:spPr>
      </p:sp>
      <p:pic>
        <p:nvPicPr>
          <p:cNvPr id="6" name="Image 0" descr="ChartLine icon"/>
          <p:cNvPicPr>
            <a:picLocks noChangeAspect="1"/>
          </p:cNvPicPr>
          <p:nvPr/>
        </p:nvPicPr>
        <p:blipFill>
          <a:blip r:embed="rId3"/>
          <a:stretch>
            <a:fillRect/>
          </a:stretch>
        </p:blipFill>
        <p:spPr>
          <a:xfrm>
            <a:off x="995782" y="2230222"/>
            <a:ext cx="294437" cy="294437"/>
          </a:xfrm>
          <a:prstGeom prst="rect">
            <a:avLst/>
          </a:prstGeom>
        </p:spPr>
      </p:pic>
      <p:sp>
        <p:nvSpPr>
          <p:cNvPr id="7" name="Text 4"/>
          <p:cNvSpPr txBox="1"/>
          <p:nvPr/>
        </p:nvSpPr>
        <p:spPr>
          <a:xfrm>
            <a:off x="1691640" y="1965960"/>
            <a:ext cx="3931920" cy="320040"/>
          </a:xfrm>
          <a:prstGeom prst="rect">
            <a:avLst/>
          </a:prstGeom>
          <a:noFill/>
          <a:ln/>
        </p:spPr>
        <p:txBody>
          <a:bodyPr wrap="square" lIns="0" tIns="0" rIns="0" bIns="0" rtlCol="0" anchor="t"/>
          <a:lstStyle/>
          <a:p>
            <a:pPr marL="0" indent="0">
              <a:buNone/>
            </a:pPr>
            <a:r>
              <a:rPr lang="en-US" sz="1700" b="1" dirty="0">
                <a:solidFill>
                  <a:schemeClr val="bg1"/>
                </a:solidFill>
                <a:latin typeface="Cambria" pitchFamily="34" charset="0"/>
                <a:ea typeface="Cambria" pitchFamily="34" charset="-122"/>
                <a:cs typeface="Cambria" pitchFamily="34" charset="-120"/>
              </a:rPr>
              <a:t>Are attacks increasing?</a:t>
            </a:r>
            <a:endParaRPr lang="en-US" sz="1700" dirty="0"/>
          </a:p>
        </p:txBody>
      </p:sp>
      <p:sp>
        <p:nvSpPr>
          <p:cNvPr id="8" name="Text 5"/>
          <p:cNvSpPr txBox="1"/>
          <p:nvPr/>
        </p:nvSpPr>
        <p:spPr>
          <a:xfrm>
            <a:off x="1691640" y="2313432"/>
            <a:ext cx="3931920" cy="274320"/>
          </a:xfrm>
          <a:prstGeom prst="rect">
            <a:avLst/>
          </a:prstGeom>
          <a:noFill/>
          <a:ln/>
        </p:spPr>
        <p:txBody>
          <a:bodyPr wrap="square" lIns="0" tIns="0" rIns="0" bIns="0" rtlCol="0" anchor="t"/>
          <a:lstStyle/>
          <a:p>
            <a:pPr marL="0" indent="0">
              <a:buNone/>
            </a:pPr>
            <a:r>
              <a:rPr lang="en-US" sz="1300" dirty="0">
                <a:solidFill>
                  <a:schemeClr val="bg2"/>
                </a:solidFill>
              </a:rPr>
              <a:t>Yearly and monthly volume</a:t>
            </a:r>
            <a:endParaRPr lang="en-US" sz="1300" dirty="0"/>
          </a:p>
        </p:txBody>
      </p:sp>
      <p:sp>
        <p:nvSpPr>
          <p:cNvPr id="9" name="Text 6"/>
          <p:cNvSpPr txBox="1"/>
          <p:nvPr/>
        </p:nvSpPr>
        <p:spPr>
          <a:xfrm>
            <a:off x="1691640" y="2606040"/>
            <a:ext cx="3931920" cy="228600"/>
          </a:xfrm>
          <a:prstGeom prst="rect">
            <a:avLst/>
          </a:prstGeom>
          <a:noFill/>
          <a:ln/>
        </p:spPr>
        <p:txBody>
          <a:bodyPr wrap="square" lIns="0" tIns="0" rIns="0" bIns="0" rtlCol="0" anchor="t"/>
          <a:lstStyle/>
          <a:p>
            <a:pPr marL="0" indent="0">
              <a:buNone/>
            </a:pPr>
            <a:r>
              <a:rPr lang="en-US" sz="1100" b="1" kern="0" spc="100" dirty="0">
                <a:solidFill>
                  <a:schemeClr val="accent3"/>
                </a:solidFill>
              </a:rPr>
              <a:t>YEAR SELECTOR + SPARKLINE</a:t>
            </a:r>
            <a:endParaRPr lang="en-US" sz="1100" dirty="0"/>
          </a:p>
        </p:txBody>
      </p:sp>
      <p:sp>
        <p:nvSpPr>
          <p:cNvPr id="10" name="Icon circle FaShieldAlt"/>
          <p:cNvSpPr/>
          <p:nvPr/>
        </p:nvSpPr>
        <p:spPr>
          <a:xfrm>
            <a:off x="822960" y="3081528"/>
            <a:ext cx="640080" cy="640080"/>
          </a:xfrm>
          <a:prstGeom prst="ellipse">
            <a:avLst/>
          </a:prstGeom>
          <a:solidFill>
            <a:srgbClr val="EC1F8C"/>
          </a:solidFill>
          <a:ln/>
        </p:spPr>
      </p:sp>
      <p:pic>
        <p:nvPicPr>
          <p:cNvPr id="11" name="Image 1" descr="ShieldAlt icon"/>
          <p:cNvPicPr>
            <a:picLocks noChangeAspect="1"/>
          </p:cNvPicPr>
          <p:nvPr/>
        </p:nvPicPr>
        <p:blipFill>
          <a:blip r:embed="rId4"/>
          <a:stretch>
            <a:fillRect/>
          </a:stretch>
        </p:blipFill>
        <p:spPr>
          <a:xfrm>
            <a:off x="995782" y="3254350"/>
            <a:ext cx="294437" cy="294437"/>
          </a:xfrm>
          <a:prstGeom prst="rect">
            <a:avLst/>
          </a:prstGeom>
        </p:spPr>
      </p:pic>
      <p:sp>
        <p:nvSpPr>
          <p:cNvPr id="12" name="Text 8"/>
          <p:cNvSpPr txBox="1"/>
          <p:nvPr/>
        </p:nvSpPr>
        <p:spPr>
          <a:xfrm>
            <a:off x="1691640" y="2990088"/>
            <a:ext cx="3931920" cy="320040"/>
          </a:xfrm>
          <a:prstGeom prst="rect">
            <a:avLst/>
          </a:prstGeom>
          <a:noFill/>
          <a:ln/>
        </p:spPr>
        <p:txBody>
          <a:bodyPr wrap="square" lIns="0" tIns="0" rIns="0" bIns="0" rtlCol="0" anchor="t"/>
          <a:lstStyle/>
          <a:p>
            <a:pPr marL="0" indent="0">
              <a:buNone/>
            </a:pPr>
            <a:r>
              <a:rPr lang="en-US" sz="1700" b="1" dirty="0">
                <a:solidFill>
                  <a:schemeClr val="bg1"/>
                </a:solidFill>
                <a:latin typeface="Cambria" pitchFamily="34" charset="0"/>
                <a:ea typeface="Cambria" pitchFamily="34" charset="-122"/>
                <a:cs typeface="Cambria" pitchFamily="34" charset="-120"/>
              </a:rPr>
              <a:t>Which attacks matter most?</a:t>
            </a:r>
            <a:endParaRPr lang="en-US" sz="1700" dirty="0"/>
          </a:p>
        </p:txBody>
      </p:sp>
      <p:sp>
        <p:nvSpPr>
          <p:cNvPr id="13" name="Text 9"/>
          <p:cNvSpPr txBox="1"/>
          <p:nvPr/>
        </p:nvSpPr>
        <p:spPr>
          <a:xfrm>
            <a:off x="1691640" y="3337560"/>
            <a:ext cx="3931920" cy="274320"/>
          </a:xfrm>
          <a:prstGeom prst="rect">
            <a:avLst/>
          </a:prstGeom>
          <a:noFill/>
          <a:ln/>
        </p:spPr>
        <p:txBody>
          <a:bodyPr wrap="square" lIns="0" tIns="0" rIns="0" bIns="0" rtlCol="0" anchor="t"/>
          <a:lstStyle/>
          <a:p>
            <a:pPr marL="0" indent="0">
              <a:buNone/>
            </a:pPr>
            <a:r>
              <a:rPr lang="en-US" sz="1300" dirty="0">
                <a:solidFill>
                  <a:schemeClr val="bg2"/>
                </a:solidFill>
              </a:rPr>
              <a:t>6 categories, 19 sub-types, mitigation rate</a:t>
            </a:r>
            <a:endParaRPr lang="en-US" sz="1300" dirty="0"/>
          </a:p>
        </p:txBody>
      </p:sp>
      <p:sp>
        <p:nvSpPr>
          <p:cNvPr id="14" name="Text 10"/>
          <p:cNvSpPr txBox="1"/>
          <p:nvPr/>
        </p:nvSpPr>
        <p:spPr>
          <a:xfrm>
            <a:off x="1691640" y="3630168"/>
            <a:ext cx="3931920" cy="228600"/>
          </a:xfrm>
          <a:prstGeom prst="rect">
            <a:avLst/>
          </a:prstGeom>
          <a:noFill/>
          <a:ln/>
        </p:spPr>
        <p:txBody>
          <a:bodyPr wrap="square" lIns="0" tIns="0" rIns="0" bIns="0" rtlCol="0" anchor="t"/>
          <a:lstStyle/>
          <a:p>
            <a:pPr marL="0" indent="0">
              <a:buNone/>
            </a:pPr>
            <a:r>
              <a:rPr lang="en-US" sz="1100" b="1" kern="0" spc="100" dirty="0">
                <a:solidFill>
                  <a:schemeClr val="accent3"/>
                </a:solidFill>
              </a:rPr>
              <a:t>THREAT CATEGORIES TAB</a:t>
            </a:r>
            <a:endParaRPr lang="en-US" sz="1100" dirty="0"/>
          </a:p>
        </p:txBody>
      </p:sp>
      <p:sp>
        <p:nvSpPr>
          <p:cNvPr id="15" name="Icon circle FaGlobe"/>
          <p:cNvSpPr/>
          <p:nvPr/>
        </p:nvSpPr>
        <p:spPr>
          <a:xfrm>
            <a:off x="822960" y="4105656"/>
            <a:ext cx="640080" cy="640080"/>
          </a:xfrm>
          <a:prstGeom prst="ellipse">
            <a:avLst/>
          </a:prstGeom>
          <a:solidFill>
            <a:srgbClr val="4F7BFF"/>
          </a:solidFill>
          <a:ln/>
        </p:spPr>
      </p:sp>
      <p:pic>
        <p:nvPicPr>
          <p:cNvPr id="16" name="Image 2" descr="Globe icon"/>
          <p:cNvPicPr>
            <a:picLocks noChangeAspect="1"/>
          </p:cNvPicPr>
          <p:nvPr/>
        </p:nvPicPr>
        <p:blipFill>
          <a:blip r:embed="rId5"/>
          <a:stretch>
            <a:fillRect/>
          </a:stretch>
        </p:blipFill>
        <p:spPr>
          <a:xfrm>
            <a:off x="995782" y="4278478"/>
            <a:ext cx="294437" cy="294437"/>
          </a:xfrm>
          <a:prstGeom prst="rect">
            <a:avLst/>
          </a:prstGeom>
        </p:spPr>
      </p:pic>
      <p:sp>
        <p:nvSpPr>
          <p:cNvPr id="17" name="Text 12"/>
          <p:cNvSpPr txBox="1"/>
          <p:nvPr/>
        </p:nvSpPr>
        <p:spPr>
          <a:xfrm>
            <a:off x="1691640" y="4014216"/>
            <a:ext cx="3931920" cy="320040"/>
          </a:xfrm>
          <a:prstGeom prst="rect">
            <a:avLst/>
          </a:prstGeom>
          <a:noFill/>
          <a:ln/>
        </p:spPr>
        <p:txBody>
          <a:bodyPr wrap="square" lIns="0" tIns="0" rIns="0" bIns="0" rtlCol="0" anchor="t"/>
          <a:lstStyle/>
          <a:p>
            <a:pPr marL="0" indent="0">
              <a:buNone/>
            </a:pPr>
            <a:r>
              <a:rPr lang="en-US" sz="1700" b="1" dirty="0">
                <a:solidFill>
                  <a:schemeClr val="bg1"/>
                </a:solidFill>
                <a:latin typeface="Cambria" pitchFamily="34" charset="0"/>
                <a:ea typeface="Cambria" pitchFamily="34" charset="-122"/>
                <a:cs typeface="Cambria" pitchFamily="34" charset="-120"/>
              </a:rPr>
              <a:t>Where do they come from?</a:t>
            </a:r>
            <a:endParaRPr lang="en-US" sz="1700" dirty="0"/>
          </a:p>
        </p:txBody>
      </p:sp>
      <p:sp>
        <p:nvSpPr>
          <p:cNvPr id="18" name="Text 13"/>
          <p:cNvSpPr txBox="1"/>
          <p:nvPr/>
        </p:nvSpPr>
        <p:spPr>
          <a:xfrm>
            <a:off x="1691640" y="4361688"/>
            <a:ext cx="3931920" cy="274320"/>
          </a:xfrm>
          <a:prstGeom prst="rect">
            <a:avLst/>
          </a:prstGeom>
          <a:noFill/>
          <a:ln/>
        </p:spPr>
        <p:txBody>
          <a:bodyPr wrap="square" lIns="0" tIns="0" rIns="0" bIns="0" rtlCol="0" anchor="t"/>
          <a:lstStyle/>
          <a:p>
            <a:pPr marL="0" indent="0">
              <a:buNone/>
            </a:pPr>
            <a:r>
              <a:rPr lang="en-US" sz="1300" dirty="0">
                <a:solidFill>
                  <a:schemeClr val="bg2"/>
                </a:solidFill>
              </a:rPr>
              <a:t>12 source countries, 8 target industries</a:t>
            </a:r>
            <a:endParaRPr lang="en-US" sz="1300" dirty="0"/>
          </a:p>
        </p:txBody>
      </p:sp>
      <p:sp>
        <p:nvSpPr>
          <p:cNvPr id="19" name="Text 14"/>
          <p:cNvSpPr txBox="1"/>
          <p:nvPr/>
        </p:nvSpPr>
        <p:spPr>
          <a:xfrm>
            <a:off x="1691640" y="4654296"/>
            <a:ext cx="3931920" cy="228600"/>
          </a:xfrm>
          <a:prstGeom prst="rect">
            <a:avLst/>
          </a:prstGeom>
          <a:noFill/>
          <a:ln/>
        </p:spPr>
        <p:txBody>
          <a:bodyPr wrap="square" lIns="0" tIns="0" rIns="0" bIns="0" rtlCol="0" anchor="t"/>
          <a:lstStyle/>
          <a:p>
            <a:pPr marL="0" indent="0">
              <a:buNone/>
            </a:pPr>
            <a:r>
              <a:rPr lang="en-US" sz="1100" b="1" kern="0" spc="100" dirty="0">
                <a:solidFill>
                  <a:schemeClr val="accent3"/>
                </a:solidFill>
              </a:rPr>
              <a:t>GEOGRAPHICALLY TAB</a:t>
            </a:r>
            <a:endParaRPr lang="en-US" sz="1100" dirty="0"/>
          </a:p>
        </p:txBody>
      </p:sp>
      <p:sp>
        <p:nvSpPr>
          <p:cNvPr id="20" name="Icon circle FaStopwatch"/>
          <p:cNvSpPr/>
          <p:nvPr/>
        </p:nvSpPr>
        <p:spPr>
          <a:xfrm>
            <a:off x="822960" y="5129784"/>
            <a:ext cx="640080" cy="640080"/>
          </a:xfrm>
          <a:prstGeom prst="ellipse">
            <a:avLst/>
          </a:prstGeom>
          <a:solidFill>
            <a:srgbClr val="34D3A0"/>
          </a:solidFill>
          <a:ln/>
        </p:spPr>
      </p:sp>
      <p:pic>
        <p:nvPicPr>
          <p:cNvPr id="21" name="Image 3" descr="Stopwatch icon"/>
          <p:cNvPicPr>
            <a:picLocks noChangeAspect="1"/>
          </p:cNvPicPr>
          <p:nvPr/>
        </p:nvPicPr>
        <p:blipFill>
          <a:blip r:embed="rId6"/>
          <a:stretch>
            <a:fillRect/>
          </a:stretch>
        </p:blipFill>
        <p:spPr>
          <a:xfrm>
            <a:off x="995782" y="5302606"/>
            <a:ext cx="294437" cy="294437"/>
          </a:xfrm>
          <a:prstGeom prst="rect">
            <a:avLst/>
          </a:prstGeom>
        </p:spPr>
      </p:pic>
      <p:sp>
        <p:nvSpPr>
          <p:cNvPr id="22" name="Text 16"/>
          <p:cNvSpPr txBox="1"/>
          <p:nvPr/>
        </p:nvSpPr>
        <p:spPr>
          <a:xfrm>
            <a:off x="1691640" y="5038344"/>
            <a:ext cx="3931920" cy="320040"/>
          </a:xfrm>
          <a:prstGeom prst="rect">
            <a:avLst/>
          </a:prstGeom>
          <a:noFill/>
          <a:ln/>
        </p:spPr>
        <p:txBody>
          <a:bodyPr wrap="square" lIns="0" tIns="0" rIns="0" bIns="0" rtlCol="0" anchor="t"/>
          <a:lstStyle/>
          <a:p>
            <a:pPr marL="0" indent="0">
              <a:buNone/>
            </a:pPr>
            <a:r>
              <a:rPr lang="en-US" sz="1700" b="1" dirty="0">
                <a:solidFill>
                  <a:schemeClr val="bg1"/>
                </a:solidFill>
                <a:latin typeface="Cambria" pitchFamily="34" charset="0"/>
                <a:ea typeface="Cambria" pitchFamily="34" charset="-122"/>
                <a:cs typeface="Cambria" pitchFamily="34" charset="-120"/>
              </a:rPr>
              <a:t>Are we responding fast enough?</a:t>
            </a:r>
            <a:endParaRPr lang="en-US" sz="1700" dirty="0"/>
          </a:p>
        </p:txBody>
      </p:sp>
      <p:sp>
        <p:nvSpPr>
          <p:cNvPr id="23" name="Text 17"/>
          <p:cNvSpPr txBox="1"/>
          <p:nvPr/>
        </p:nvSpPr>
        <p:spPr>
          <a:xfrm>
            <a:off x="1691640" y="5385816"/>
            <a:ext cx="3931920" cy="274320"/>
          </a:xfrm>
          <a:prstGeom prst="rect">
            <a:avLst/>
          </a:prstGeom>
          <a:noFill/>
          <a:ln/>
        </p:spPr>
        <p:txBody>
          <a:bodyPr wrap="square" lIns="0" tIns="0" rIns="0" bIns="0" rtlCol="0" anchor="t"/>
          <a:lstStyle/>
          <a:p>
            <a:pPr marL="0" indent="0">
              <a:buNone/>
            </a:pPr>
            <a:r>
              <a:rPr lang="en-US" sz="1300" dirty="0">
                <a:solidFill>
                  <a:schemeClr val="bg2"/>
                </a:solidFill>
              </a:rPr>
              <a:t>Funnel, time to respond, SLA compliance</a:t>
            </a:r>
            <a:endParaRPr lang="en-US" sz="1300" dirty="0"/>
          </a:p>
        </p:txBody>
      </p:sp>
      <p:sp>
        <p:nvSpPr>
          <p:cNvPr id="24" name="Text 18"/>
          <p:cNvSpPr txBox="1"/>
          <p:nvPr/>
        </p:nvSpPr>
        <p:spPr>
          <a:xfrm>
            <a:off x="1691640" y="5678424"/>
            <a:ext cx="3931920" cy="228600"/>
          </a:xfrm>
          <a:prstGeom prst="rect">
            <a:avLst/>
          </a:prstGeom>
          <a:noFill/>
          <a:ln/>
        </p:spPr>
        <p:txBody>
          <a:bodyPr wrap="square" lIns="0" tIns="0" rIns="0" bIns="0" rtlCol="0" anchor="t"/>
          <a:lstStyle/>
          <a:p>
            <a:pPr marL="0" indent="0">
              <a:buNone/>
            </a:pPr>
            <a:r>
              <a:rPr lang="en-US" sz="1100" b="1" kern="0" spc="100" dirty="0">
                <a:solidFill>
                  <a:schemeClr val="accent3"/>
                </a:solidFill>
              </a:rPr>
              <a:t>DETECTION PROCESS TAB</a:t>
            </a:r>
            <a:endParaRPr lang="en-US" sz="1100" dirty="0"/>
          </a:p>
        </p:txBody>
      </p:sp>
      <p:sp>
        <p:nvSpPr>
          <p:cNvPr id="25" name="Data cleaning card"/>
          <p:cNvSpPr/>
          <p:nvPr/>
        </p:nvSpPr>
        <p:spPr>
          <a:xfrm>
            <a:off x="6035040" y="1371600"/>
            <a:ext cx="5605272" cy="4846320"/>
          </a:xfrm>
          <a:prstGeom prst="roundRect">
            <a:avLst>
              <a:gd name="adj" fmla="val 2264"/>
            </a:avLst>
          </a:prstGeom>
          <a:solidFill>
            <a:schemeClr val="tx2"/>
          </a:solidFill>
          <a:ln/>
        </p:spPr>
      </p:sp>
      <p:sp>
        <p:nvSpPr>
          <p:cNvPr id="26" name="Text 20"/>
          <p:cNvSpPr txBox="1"/>
          <p:nvPr/>
        </p:nvSpPr>
        <p:spPr>
          <a:xfrm>
            <a:off x="6309360" y="1554480"/>
            <a:ext cx="5029200" cy="274320"/>
          </a:xfrm>
          <a:prstGeom prst="rect">
            <a:avLst/>
          </a:prstGeom>
          <a:noFill/>
          <a:ln/>
        </p:spPr>
        <p:txBody>
          <a:bodyPr wrap="square" lIns="0" tIns="0" rIns="0" bIns="0" rtlCol="0" anchor="t"/>
          <a:lstStyle/>
          <a:p>
            <a:pPr marL="0" indent="0">
              <a:buNone/>
            </a:pPr>
            <a:r>
              <a:rPr lang="en-US" sz="1400" b="1" dirty="0">
                <a:solidFill>
                  <a:schemeClr val="bg2"/>
                </a:solidFill>
              </a:rPr>
              <a:t>Raw export to analysis-ready data</a:t>
            </a:r>
            <a:endParaRPr lang="en-US" sz="1400" dirty="0"/>
          </a:p>
        </p:txBody>
      </p:sp>
      <p:sp>
        <p:nvSpPr>
          <p:cNvPr id="27" name="Text 21"/>
          <p:cNvSpPr txBox="1"/>
          <p:nvPr/>
        </p:nvSpPr>
        <p:spPr>
          <a:xfrm>
            <a:off x="6309360" y="1920240"/>
            <a:ext cx="1691640" cy="548640"/>
          </a:xfrm>
          <a:prstGeom prst="rect">
            <a:avLst/>
          </a:prstGeom>
          <a:noFill/>
          <a:ln/>
        </p:spPr>
        <p:txBody>
          <a:bodyPr wrap="square" lIns="0" tIns="0" rIns="0" bIns="0" rtlCol="0" anchor="ctr"/>
          <a:lstStyle/>
          <a:p>
            <a:pPr marL="0" indent="0">
              <a:buNone/>
            </a:pPr>
            <a:r>
              <a:rPr lang="en-US" sz="3200" b="1" dirty="0">
                <a:solidFill>
                  <a:schemeClr val="bg2"/>
                </a:solidFill>
                <a:latin typeface="Cambria" pitchFamily="34" charset="0"/>
                <a:ea typeface="Cambria" pitchFamily="34" charset="-122"/>
                <a:cs typeface="Cambria" pitchFamily="34" charset="-120"/>
              </a:rPr>
              <a:t>81,403</a:t>
            </a:r>
            <a:endParaRPr lang="en-US" sz="3200" dirty="0"/>
          </a:p>
        </p:txBody>
      </p:sp>
      <p:sp>
        <p:nvSpPr>
          <p:cNvPr id="28" name="Text 22"/>
          <p:cNvSpPr txBox="1"/>
          <p:nvPr/>
        </p:nvSpPr>
        <p:spPr>
          <a:xfrm>
            <a:off x="6309360" y="2487168"/>
            <a:ext cx="1691640" cy="274320"/>
          </a:xfrm>
          <a:prstGeom prst="rect">
            <a:avLst/>
          </a:prstGeom>
          <a:noFill/>
          <a:ln/>
        </p:spPr>
        <p:txBody>
          <a:bodyPr wrap="square" lIns="0" tIns="0" rIns="0" bIns="0" rtlCol="0" anchor="t"/>
          <a:lstStyle/>
          <a:p>
            <a:pPr marL="0" indent="0">
              <a:buNone/>
            </a:pPr>
            <a:r>
              <a:rPr lang="en-US" sz="1300" dirty="0">
                <a:solidFill>
                  <a:schemeClr val="bg2"/>
                </a:solidFill>
              </a:rPr>
              <a:t>raw rows</a:t>
            </a:r>
            <a:endParaRPr lang="en-US" sz="1300" dirty="0"/>
          </a:p>
        </p:txBody>
      </p:sp>
      <p:sp>
        <p:nvSpPr>
          <p:cNvPr id="29" name="Text 23"/>
          <p:cNvSpPr txBox="1"/>
          <p:nvPr/>
        </p:nvSpPr>
        <p:spPr>
          <a:xfrm>
            <a:off x="8092440" y="1920240"/>
            <a:ext cx="1691640" cy="548640"/>
          </a:xfrm>
          <a:prstGeom prst="rect">
            <a:avLst/>
          </a:prstGeom>
          <a:noFill/>
          <a:ln/>
        </p:spPr>
        <p:txBody>
          <a:bodyPr wrap="square" lIns="0" tIns="0" rIns="0" bIns="0" rtlCol="0" anchor="ctr"/>
          <a:lstStyle/>
          <a:p>
            <a:pPr marL="0" indent="0">
              <a:buNone/>
            </a:pPr>
            <a:r>
              <a:rPr lang="en-US" sz="3200" b="1" dirty="0">
                <a:solidFill>
                  <a:schemeClr val="accent2"/>
                </a:solidFill>
                <a:latin typeface="Cambria" pitchFamily="34" charset="0"/>
                <a:ea typeface="Cambria" pitchFamily="34" charset="-122"/>
                <a:cs typeface="Cambria" pitchFamily="34" charset="-120"/>
              </a:rPr>
              <a:t>-1,203</a:t>
            </a:r>
            <a:endParaRPr lang="en-US" sz="3200" dirty="0"/>
          </a:p>
        </p:txBody>
      </p:sp>
      <p:sp>
        <p:nvSpPr>
          <p:cNvPr id="30" name="Text 24"/>
          <p:cNvSpPr txBox="1"/>
          <p:nvPr/>
        </p:nvSpPr>
        <p:spPr>
          <a:xfrm>
            <a:off x="8092440" y="2487168"/>
            <a:ext cx="1691640" cy="274320"/>
          </a:xfrm>
          <a:prstGeom prst="rect">
            <a:avLst/>
          </a:prstGeom>
          <a:noFill/>
          <a:ln/>
        </p:spPr>
        <p:txBody>
          <a:bodyPr wrap="square" lIns="0" tIns="0" rIns="0" bIns="0" rtlCol="0" anchor="t"/>
          <a:lstStyle/>
          <a:p>
            <a:pPr marL="0" indent="0">
              <a:buNone/>
            </a:pPr>
            <a:r>
              <a:rPr lang="en-US" sz="1300" dirty="0">
                <a:solidFill>
                  <a:schemeClr val="bg2"/>
                </a:solidFill>
              </a:rPr>
              <a:t>duplicates</a:t>
            </a:r>
            <a:endParaRPr lang="en-US" sz="1300" dirty="0"/>
          </a:p>
        </p:txBody>
      </p:sp>
      <p:sp>
        <p:nvSpPr>
          <p:cNvPr id="31" name="Text 25"/>
          <p:cNvSpPr txBox="1"/>
          <p:nvPr/>
        </p:nvSpPr>
        <p:spPr>
          <a:xfrm>
            <a:off x="9875520" y="1920240"/>
            <a:ext cx="1691640" cy="548640"/>
          </a:xfrm>
          <a:prstGeom prst="rect">
            <a:avLst/>
          </a:prstGeom>
          <a:noFill/>
          <a:ln/>
        </p:spPr>
        <p:txBody>
          <a:bodyPr wrap="square" lIns="0" tIns="0" rIns="0" bIns="0" rtlCol="0" anchor="ctr"/>
          <a:lstStyle/>
          <a:p>
            <a:pPr marL="0" indent="0">
              <a:buNone/>
            </a:pPr>
            <a:r>
              <a:rPr lang="en-US" sz="3200" b="1" dirty="0">
                <a:solidFill>
                  <a:schemeClr val="accent3"/>
                </a:solidFill>
                <a:latin typeface="Cambria" pitchFamily="34" charset="0"/>
                <a:ea typeface="Cambria" pitchFamily="34" charset="-122"/>
                <a:cs typeface="Cambria" pitchFamily="34" charset="-120"/>
              </a:rPr>
              <a:t>80,200</a:t>
            </a:r>
            <a:endParaRPr lang="en-US" sz="3200" dirty="0"/>
          </a:p>
        </p:txBody>
      </p:sp>
      <p:sp>
        <p:nvSpPr>
          <p:cNvPr id="32" name="Text 26"/>
          <p:cNvSpPr txBox="1"/>
          <p:nvPr/>
        </p:nvSpPr>
        <p:spPr>
          <a:xfrm>
            <a:off x="9875520" y="2487168"/>
            <a:ext cx="1691640" cy="274320"/>
          </a:xfrm>
          <a:prstGeom prst="rect">
            <a:avLst/>
          </a:prstGeom>
          <a:noFill/>
          <a:ln/>
        </p:spPr>
        <p:txBody>
          <a:bodyPr wrap="square" lIns="0" tIns="0" rIns="0" bIns="0" rtlCol="0" anchor="t"/>
          <a:lstStyle/>
          <a:p>
            <a:pPr marL="0" indent="0">
              <a:buNone/>
            </a:pPr>
            <a:r>
              <a:rPr lang="en-US" sz="1300" dirty="0">
                <a:solidFill>
                  <a:schemeClr val="bg2"/>
                </a:solidFill>
              </a:rPr>
              <a:t>clean records</a:t>
            </a:r>
            <a:endParaRPr lang="en-US" sz="1300" dirty="0"/>
          </a:p>
        </p:txBody>
      </p:sp>
      <p:sp>
        <p:nvSpPr>
          <p:cNvPr id="33" name="Text 27"/>
          <p:cNvSpPr txBox="1"/>
          <p:nvPr/>
        </p:nvSpPr>
        <p:spPr>
          <a:xfrm>
            <a:off x="6309360" y="2926080"/>
            <a:ext cx="5029200" cy="274320"/>
          </a:xfrm>
          <a:prstGeom prst="rect">
            <a:avLst/>
          </a:prstGeom>
          <a:noFill/>
          <a:ln/>
        </p:spPr>
        <p:txBody>
          <a:bodyPr wrap="square" lIns="0" tIns="0" rIns="0" bIns="0" rtlCol="0" anchor="t"/>
          <a:lstStyle/>
          <a:p>
            <a:pPr marL="0" indent="0">
              <a:buNone/>
            </a:pPr>
            <a:r>
              <a:rPr lang="en-US" sz="1400" b="1" dirty="0">
                <a:solidFill>
                  <a:schemeClr val="bg2"/>
                </a:solidFill>
              </a:rPr>
              <a:t>Other issues found and fixed (rows)</a:t>
            </a:r>
            <a:endParaRPr lang="en-US" sz="1400" dirty="0"/>
          </a:p>
        </p:txBody>
      </p:sp>
      <p:graphicFrame>
        <p:nvGraphicFramePr>
          <p:cNvPr id="34" name="Chart 0"/>
          <p:cNvGraphicFramePr/>
          <p:nvPr/>
        </p:nvGraphicFramePr>
        <p:xfrm>
          <a:off x="6217920" y="3200400"/>
          <a:ext cx="5257800" cy="2331720"/>
        </p:xfrm>
        <a:graphic>
          <a:graphicData uri="http://schemas.openxmlformats.org/drawingml/2006/chart">
            <c:chart xmlns:c="http://schemas.openxmlformats.org/drawingml/2006/chart" xmlns:r="http://schemas.openxmlformats.org/officeDocument/2006/relationships" r:id="rId7"/>
          </a:graphicData>
        </a:graphic>
      </p:graphicFrame>
      <p:sp>
        <p:nvSpPr>
          <p:cNvPr id="35" name="Text 28"/>
          <p:cNvSpPr txBox="1"/>
          <p:nvPr/>
        </p:nvSpPr>
        <p:spPr>
          <a:xfrm>
            <a:off x="6309360" y="5577840"/>
            <a:ext cx="5074920" cy="502920"/>
          </a:xfrm>
          <a:prstGeom prst="rect">
            <a:avLst/>
          </a:prstGeom>
          <a:noFill/>
          <a:ln/>
        </p:spPr>
        <p:txBody>
          <a:bodyPr wrap="square" lIns="0" tIns="0" rIns="0" bIns="0" rtlCol="0" anchor="t"/>
          <a:lstStyle/>
          <a:p>
            <a:pPr marL="0" indent="0">
              <a:buNone/>
            </a:pPr>
            <a:r>
              <a:rPr lang="en-US" sz="1200" i="1" dirty="0">
                <a:solidFill>
                  <a:schemeClr val="bg2"/>
                </a:solidFill>
              </a:rPr>
              <a:t>Synthetic data from seeded Python scripts (seeds 2026 and 2027), built to resemble public threat-report patterns. No real organisations or people.</a:t>
            </a:r>
            <a:endParaRPr lang="en-US" sz="1200" dirty="0"/>
          </a:p>
        </p:txBody>
      </p:sp>
      <p:sp>
        <p:nvSpPr>
          <p:cNvPr id="36"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200" b="1" dirty="0">
                <a:solidFill>
                  <a:schemeClr val="bg1"/>
                </a:solidFill>
              </a:rPr>
              <a:t>How to read the dashboard</a:t>
            </a:r>
            <a:endParaRPr lang="en-US" sz="3200" dirty="0"/>
          </a:p>
        </p:txBody>
      </p:sp>
      <p:sp>
        <p:nvSpPr>
          <p:cNvPr id="3" name="Screenshot frame"/>
          <p:cNvSpPr/>
          <p:nvPr/>
        </p:nvSpPr>
        <p:spPr>
          <a:xfrm>
            <a:off x="493776" y="1316736"/>
            <a:ext cx="6784848" cy="3725418"/>
          </a:xfrm>
          <a:prstGeom prst="roundRect">
            <a:avLst>
              <a:gd name="adj" fmla="val 1964"/>
            </a:avLst>
          </a:prstGeom>
          <a:solidFill>
            <a:schemeClr val="tx2"/>
          </a:solidFill>
          <a:ln/>
        </p:spPr>
      </p:sp>
      <p:pic>
        <p:nvPicPr>
          <p:cNvPr id="4" name="Image 0" descr="Threat Categories view of the dashboard, 2024"/>
          <p:cNvPicPr>
            <a:picLocks noChangeAspect="1"/>
          </p:cNvPicPr>
          <p:nvPr/>
        </p:nvPicPr>
        <p:blipFill>
          <a:blip r:embed="rId3"/>
          <a:stretch>
            <a:fillRect/>
          </a:stretch>
        </p:blipFill>
        <p:spPr>
          <a:xfrm>
            <a:off x="548640" y="1371600"/>
            <a:ext cx="6675120" cy="3615690"/>
          </a:xfrm>
          <a:prstGeom prst="rect">
            <a:avLst/>
          </a:prstGeom>
        </p:spPr>
      </p:pic>
      <p:sp>
        <p:nvSpPr>
          <p:cNvPr id="5" name="Panels card"/>
          <p:cNvSpPr/>
          <p:nvPr/>
        </p:nvSpPr>
        <p:spPr>
          <a:xfrm>
            <a:off x="548640" y="5261610"/>
            <a:ext cx="6949440" cy="956310"/>
          </a:xfrm>
          <a:prstGeom prst="roundRect">
            <a:avLst>
              <a:gd name="adj" fmla="val 11474"/>
            </a:avLst>
          </a:prstGeom>
          <a:solidFill>
            <a:schemeClr val="tx2"/>
          </a:solidFill>
          <a:ln/>
        </p:spPr>
      </p:sp>
      <p:sp>
        <p:nvSpPr>
          <p:cNvPr id="6" name="Text 3"/>
          <p:cNvSpPr txBox="1"/>
          <p:nvPr/>
        </p:nvSpPr>
        <p:spPr>
          <a:xfrm>
            <a:off x="777240" y="5398770"/>
            <a:ext cx="6492240" cy="868680"/>
          </a:xfrm>
          <a:prstGeom prst="rect">
            <a:avLst/>
          </a:prstGeom>
          <a:noFill/>
          <a:ln/>
        </p:spPr>
        <p:txBody>
          <a:bodyPr wrap="square" lIns="0" tIns="0" rIns="0" bIns="0" rtlCol="0" anchor="t"/>
          <a:lstStyle/>
          <a:p>
            <a:pPr marL="0" indent="0">
              <a:spcAft>
                <a:spcPts val="400"/>
              </a:spcAft>
              <a:buNone/>
            </a:pPr>
            <a:r>
              <a:rPr lang="en-US" sz="1400" b="1" dirty="0">
                <a:solidFill>
                  <a:schemeClr val="bg1"/>
                </a:solidFill>
              </a:rPr>
              <a:t>Left panel: </a:t>
            </a:r>
            <a:r>
              <a:rPr lang="en-US" sz="1400" dirty="0">
                <a:solidFill>
                  <a:schemeClr val="bg1"/>
                </a:solidFill>
              </a:rPr>
              <a:t>year selector, headline count, monthly sparkline and severity split.</a:t>
            </a:r>
            <a:endParaRPr lang="en-US" sz="1400" dirty="0"/>
          </a:p>
          <a:p>
            <a:pPr marL="0" indent="0">
              <a:spcAft>
                <a:spcPts val="400"/>
              </a:spcAft>
              <a:buNone/>
            </a:pPr>
            <a:r>
              <a:rPr lang="en-US" sz="1400" b="1" dirty="0">
                <a:solidFill>
                  <a:schemeClr val="bg1"/>
                </a:solidFill>
              </a:rPr>
              <a:t>Right panel: </a:t>
            </a:r>
            <a:r>
              <a:rPr lang="en-US" sz="1400" dirty="0">
                <a:solidFill>
                  <a:schemeClr val="bg1"/>
                </a:solidFill>
              </a:rPr>
              <a:t>average monthly incidents, monthly time to respond, and external vs internal (89% vs 11% in 2026 YTD).</a:t>
            </a:r>
            <a:endParaRPr lang="en-US" sz="1400" dirty="0"/>
          </a:p>
        </p:txBody>
      </p:sp>
      <p:sp>
        <p:nvSpPr>
          <p:cNvPr id="7" name="Reading guide card"/>
          <p:cNvSpPr/>
          <p:nvPr/>
        </p:nvSpPr>
        <p:spPr>
          <a:xfrm>
            <a:off x="7818120" y="1371600"/>
            <a:ext cx="3822192" cy="4846320"/>
          </a:xfrm>
          <a:prstGeom prst="roundRect">
            <a:avLst>
              <a:gd name="adj" fmla="val 2871"/>
            </a:avLst>
          </a:prstGeom>
          <a:solidFill>
            <a:schemeClr val="tx2"/>
          </a:solidFill>
          <a:ln/>
        </p:spPr>
      </p:sp>
      <p:sp>
        <p:nvSpPr>
          <p:cNvPr id="8" name="Text 5"/>
          <p:cNvSpPr txBox="1"/>
          <p:nvPr/>
        </p:nvSpPr>
        <p:spPr>
          <a:xfrm>
            <a:off x="8092440" y="1554480"/>
            <a:ext cx="3291840" cy="274320"/>
          </a:xfrm>
          <a:prstGeom prst="rect">
            <a:avLst/>
          </a:prstGeom>
          <a:noFill/>
          <a:ln/>
        </p:spPr>
        <p:txBody>
          <a:bodyPr wrap="square" lIns="0" tIns="0" rIns="0" bIns="0" rtlCol="0" anchor="t"/>
          <a:lstStyle/>
          <a:p>
            <a:pPr marL="0" indent="0">
              <a:buNone/>
            </a:pPr>
            <a:r>
              <a:rPr lang="en-US" sz="1400" b="1" dirty="0">
                <a:solidFill>
                  <a:schemeClr val="bg2"/>
                </a:solidFill>
              </a:rPr>
              <a:t>Reading the main view</a:t>
            </a:r>
            <a:endParaRPr lang="en-US" sz="1400" dirty="0"/>
          </a:p>
        </p:txBody>
      </p:sp>
      <p:sp>
        <p:nvSpPr>
          <p:cNvPr id="9" name="Number circle 1"/>
          <p:cNvSpPr/>
          <p:nvPr/>
        </p:nvSpPr>
        <p:spPr>
          <a:xfrm>
            <a:off x="8092440" y="1965960"/>
            <a:ext cx="411480" cy="411480"/>
          </a:xfrm>
          <a:prstGeom prst="ellipse">
            <a:avLst/>
          </a:prstGeom>
          <a:solidFill>
            <a:srgbClr val="EC1F8C"/>
          </a:solidFill>
          <a:ln/>
        </p:spPr>
      </p:sp>
      <p:sp>
        <p:nvSpPr>
          <p:cNvPr id="10" name="Text 7"/>
          <p:cNvSpPr txBox="1"/>
          <p:nvPr/>
        </p:nvSpPr>
        <p:spPr>
          <a:xfrm>
            <a:off x="8092440" y="1965960"/>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latin typeface="Cambria" pitchFamily="34" charset="0"/>
                <a:ea typeface="Cambria" pitchFamily="34" charset="-122"/>
                <a:cs typeface="Cambria" pitchFamily="34" charset="-120"/>
              </a:rPr>
              <a:t>1</a:t>
            </a:r>
            <a:endParaRPr lang="en-US" sz="1600" dirty="0"/>
          </a:p>
        </p:txBody>
      </p:sp>
      <p:sp>
        <p:nvSpPr>
          <p:cNvPr id="11" name="Text 8"/>
          <p:cNvSpPr txBox="1"/>
          <p:nvPr/>
        </p:nvSpPr>
        <p:spPr>
          <a:xfrm>
            <a:off x="8686800" y="1938528"/>
            <a:ext cx="2834640" cy="274320"/>
          </a:xfrm>
          <a:prstGeom prst="rect">
            <a:avLst/>
          </a:prstGeom>
          <a:noFill/>
          <a:ln/>
        </p:spPr>
        <p:txBody>
          <a:bodyPr wrap="square" lIns="0" tIns="0" rIns="0" bIns="0" rtlCol="0" anchor="t"/>
          <a:lstStyle/>
          <a:p>
            <a:pPr marL="0" indent="0">
              <a:buNone/>
            </a:pPr>
            <a:r>
              <a:rPr lang="en-US" sz="1500" b="1" dirty="0">
                <a:solidFill>
                  <a:schemeClr val="bg1"/>
                </a:solidFill>
              </a:rPr>
              <a:t>Bubble = category</a:t>
            </a:r>
            <a:endParaRPr lang="en-US" sz="1500" dirty="0"/>
          </a:p>
        </p:txBody>
      </p:sp>
      <p:sp>
        <p:nvSpPr>
          <p:cNvPr id="12" name="Text 9"/>
          <p:cNvSpPr txBox="1"/>
          <p:nvPr/>
        </p:nvSpPr>
        <p:spPr>
          <a:xfrm>
            <a:off x="8686800" y="2221992"/>
            <a:ext cx="2834640" cy="457200"/>
          </a:xfrm>
          <a:prstGeom prst="rect">
            <a:avLst/>
          </a:prstGeom>
          <a:noFill/>
          <a:ln/>
        </p:spPr>
        <p:txBody>
          <a:bodyPr wrap="square" lIns="0" tIns="0" rIns="0" bIns="0" rtlCol="0" anchor="t"/>
          <a:lstStyle/>
          <a:p>
            <a:pPr marL="0" indent="0">
              <a:buNone/>
            </a:pPr>
            <a:r>
              <a:rPr lang="en-US" sz="1300" dirty="0">
                <a:solidFill>
                  <a:schemeClr val="bg2"/>
                </a:solidFill>
              </a:rPr>
              <a:t>Size shows count; pink is the largest.</a:t>
            </a:r>
            <a:endParaRPr lang="en-US" sz="1300" dirty="0"/>
          </a:p>
        </p:txBody>
      </p:sp>
      <p:sp>
        <p:nvSpPr>
          <p:cNvPr id="13" name="Number circle 2"/>
          <p:cNvSpPr/>
          <p:nvPr/>
        </p:nvSpPr>
        <p:spPr>
          <a:xfrm>
            <a:off x="8092440" y="2770632"/>
            <a:ext cx="411480" cy="411480"/>
          </a:xfrm>
          <a:prstGeom prst="ellipse">
            <a:avLst/>
          </a:prstGeom>
          <a:solidFill>
            <a:srgbClr val="5B3AE0"/>
          </a:solidFill>
          <a:ln/>
        </p:spPr>
      </p:sp>
      <p:sp>
        <p:nvSpPr>
          <p:cNvPr id="14" name="Text 11"/>
          <p:cNvSpPr txBox="1"/>
          <p:nvPr/>
        </p:nvSpPr>
        <p:spPr>
          <a:xfrm>
            <a:off x="8092440" y="2770632"/>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latin typeface="Cambria" pitchFamily="34" charset="0"/>
                <a:ea typeface="Cambria" pitchFamily="34" charset="-122"/>
                <a:cs typeface="Cambria" pitchFamily="34" charset="-120"/>
              </a:rPr>
              <a:t>2</a:t>
            </a:r>
            <a:endParaRPr lang="en-US" sz="1600" dirty="0"/>
          </a:p>
        </p:txBody>
      </p:sp>
      <p:sp>
        <p:nvSpPr>
          <p:cNvPr id="15" name="Text 12"/>
          <p:cNvSpPr txBox="1"/>
          <p:nvPr/>
        </p:nvSpPr>
        <p:spPr>
          <a:xfrm>
            <a:off x="8686800" y="2743200"/>
            <a:ext cx="2834640" cy="274320"/>
          </a:xfrm>
          <a:prstGeom prst="rect">
            <a:avLst/>
          </a:prstGeom>
          <a:noFill/>
          <a:ln/>
        </p:spPr>
        <p:txBody>
          <a:bodyPr wrap="square" lIns="0" tIns="0" rIns="0" bIns="0" rtlCol="0" anchor="t"/>
          <a:lstStyle/>
          <a:p>
            <a:pPr marL="0" indent="0">
              <a:buNone/>
            </a:pPr>
            <a:r>
              <a:rPr lang="en-US" sz="1500" b="1" dirty="0">
                <a:solidFill>
                  <a:schemeClr val="bg1"/>
                </a:solidFill>
              </a:rPr>
              <a:t>Hub = share of total</a:t>
            </a:r>
            <a:endParaRPr lang="en-US" sz="1500" dirty="0"/>
          </a:p>
        </p:txBody>
      </p:sp>
      <p:sp>
        <p:nvSpPr>
          <p:cNvPr id="16" name="Text 13"/>
          <p:cNvSpPr txBox="1"/>
          <p:nvPr/>
        </p:nvSpPr>
        <p:spPr>
          <a:xfrm>
            <a:off x="8686800" y="3026664"/>
            <a:ext cx="2834640" cy="457200"/>
          </a:xfrm>
          <a:prstGeom prst="rect">
            <a:avLst/>
          </a:prstGeom>
          <a:noFill/>
          <a:ln/>
        </p:spPr>
        <p:txBody>
          <a:bodyPr wrap="square" lIns="0" tIns="0" rIns="0" bIns="0" rtlCol="0" anchor="t"/>
          <a:lstStyle/>
          <a:p>
            <a:pPr marL="0" indent="0">
              <a:buNone/>
            </a:pPr>
            <a:r>
              <a:rPr lang="en-US" sz="1300" dirty="0">
                <a:solidFill>
                  <a:schemeClr val="bg2"/>
                </a:solidFill>
              </a:rPr>
              <a:t>Small nodes are sub-types, as % of category.</a:t>
            </a:r>
            <a:endParaRPr lang="en-US" sz="1300" dirty="0"/>
          </a:p>
        </p:txBody>
      </p:sp>
      <p:sp>
        <p:nvSpPr>
          <p:cNvPr id="17" name="Number circle 3"/>
          <p:cNvSpPr/>
          <p:nvPr/>
        </p:nvSpPr>
        <p:spPr>
          <a:xfrm>
            <a:off x="8092440" y="3575304"/>
            <a:ext cx="411480" cy="411480"/>
          </a:xfrm>
          <a:prstGeom prst="ellipse">
            <a:avLst/>
          </a:prstGeom>
          <a:solidFill>
            <a:srgbClr val="34D3A0"/>
          </a:solidFill>
          <a:ln/>
        </p:spPr>
      </p:sp>
      <p:sp>
        <p:nvSpPr>
          <p:cNvPr id="18" name="Text 15"/>
          <p:cNvSpPr txBox="1"/>
          <p:nvPr/>
        </p:nvSpPr>
        <p:spPr>
          <a:xfrm>
            <a:off x="8092440" y="3575304"/>
            <a:ext cx="411480" cy="411480"/>
          </a:xfrm>
          <a:prstGeom prst="rect">
            <a:avLst/>
          </a:prstGeom>
          <a:noFill/>
          <a:ln/>
        </p:spPr>
        <p:txBody>
          <a:bodyPr wrap="square" lIns="0" tIns="0" rIns="0" bIns="0" rtlCol="0" anchor="ctr"/>
          <a:lstStyle/>
          <a:p>
            <a:pPr marL="0" indent="0" algn="ctr">
              <a:buNone/>
            </a:pPr>
            <a:r>
              <a:rPr lang="en-US" sz="1600" b="1" dirty="0">
                <a:solidFill>
                  <a:schemeClr val="tx1"/>
                </a:solidFill>
                <a:latin typeface="Cambria" pitchFamily="34" charset="0"/>
                <a:ea typeface="Cambria" pitchFamily="34" charset="-122"/>
                <a:cs typeface="Cambria" pitchFamily="34" charset="-120"/>
              </a:rPr>
              <a:t>3</a:t>
            </a:r>
            <a:endParaRPr lang="en-US" sz="1600" dirty="0"/>
          </a:p>
        </p:txBody>
      </p:sp>
      <p:sp>
        <p:nvSpPr>
          <p:cNvPr id="19" name="Text 16"/>
          <p:cNvSpPr txBox="1"/>
          <p:nvPr/>
        </p:nvSpPr>
        <p:spPr>
          <a:xfrm>
            <a:off x="8686800" y="3547872"/>
            <a:ext cx="2834640" cy="274320"/>
          </a:xfrm>
          <a:prstGeom prst="rect">
            <a:avLst/>
          </a:prstGeom>
          <a:noFill/>
          <a:ln/>
        </p:spPr>
        <p:txBody>
          <a:bodyPr wrap="square" lIns="0" tIns="0" rIns="0" bIns="0" rtlCol="0" anchor="t"/>
          <a:lstStyle/>
          <a:p>
            <a:pPr marL="0" indent="0">
              <a:buNone/>
            </a:pPr>
            <a:r>
              <a:rPr lang="en-US" sz="1500" b="1" dirty="0">
                <a:solidFill>
                  <a:schemeClr val="bg1"/>
                </a:solidFill>
              </a:rPr>
              <a:t>Centre ring = mitigation</a:t>
            </a:r>
            <a:endParaRPr lang="en-US" sz="1500" dirty="0"/>
          </a:p>
        </p:txBody>
      </p:sp>
      <p:sp>
        <p:nvSpPr>
          <p:cNvPr id="20" name="Text 17"/>
          <p:cNvSpPr txBox="1"/>
          <p:nvPr/>
        </p:nvSpPr>
        <p:spPr>
          <a:xfrm>
            <a:off x="8686800" y="3831336"/>
            <a:ext cx="2834640" cy="457200"/>
          </a:xfrm>
          <a:prstGeom prst="rect">
            <a:avLst/>
          </a:prstGeom>
          <a:noFill/>
          <a:ln/>
        </p:spPr>
        <p:txBody>
          <a:bodyPr wrap="square" lIns="0" tIns="0" rIns="0" bIns="0" rtlCol="0" anchor="t"/>
          <a:lstStyle/>
          <a:p>
            <a:pPr marL="0" indent="0">
              <a:buNone/>
            </a:pPr>
            <a:r>
              <a:rPr lang="en-US" sz="1300" dirty="0">
                <a:solidFill>
                  <a:schemeClr val="bg2"/>
                </a:solidFill>
              </a:rPr>
              <a:t>90% in 2026 YTD vs a 90% target</a:t>
            </a:r>
            <a:endParaRPr lang="en-US" sz="1300" dirty="0"/>
          </a:p>
        </p:txBody>
      </p:sp>
      <p:sp>
        <p:nvSpPr>
          <p:cNvPr id="21" name="Text 18"/>
          <p:cNvSpPr txBox="1"/>
          <p:nvPr/>
        </p:nvSpPr>
        <p:spPr>
          <a:xfrm>
            <a:off x="8092440" y="4526280"/>
            <a:ext cx="3291840" cy="274320"/>
          </a:xfrm>
          <a:prstGeom prst="rect">
            <a:avLst/>
          </a:prstGeom>
          <a:noFill/>
          <a:ln/>
        </p:spPr>
        <p:txBody>
          <a:bodyPr wrap="square" lIns="0" tIns="0" rIns="0" bIns="0" rtlCol="0" anchor="t"/>
          <a:lstStyle/>
          <a:p>
            <a:pPr marL="0" indent="0">
              <a:buNone/>
            </a:pPr>
            <a:r>
              <a:rPr lang="en-US" sz="1400" b="1" dirty="0">
                <a:solidFill>
                  <a:schemeClr val="bg2"/>
                </a:solidFill>
              </a:rPr>
              <a:t>Four tabs</a:t>
            </a:r>
            <a:endParaRPr lang="en-US" sz="1400" dirty="0"/>
          </a:p>
        </p:txBody>
      </p:sp>
      <p:sp>
        <p:nvSpPr>
          <p:cNvPr id="22" name="Text 19"/>
          <p:cNvSpPr txBox="1"/>
          <p:nvPr/>
        </p:nvSpPr>
        <p:spPr>
          <a:xfrm>
            <a:off x="8092440" y="4846320"/>
            <a:ext cx="3383280" cy="1234440"/>
          </a:xfrm>
          <a:prstGeom prst="rect">
            <a:avLst/>
          </a:prstGeom>
          <a:noFill/>
          <a:ln/>
        </p:spPr>
        <p:txBody>
          <a:bodyPr wrap="square" lIns="0" tIns="0" rIns="0" bIns="0" rtlCol="0" anchor="t"/>
          <a:lstStyle/>
          <a:p>
            <a:pPr marL="0" indent="0">
              <a:spcAft>
                <a:spcPts val="300"/>
              </a:spcAft>
              <a:buNone/>
            </a:pPr>
            <a:r>
              <a:rPr lang="en-US" sz="1300" b="1" dirty="0">
                <a:solidFill>
                  <a:schemeClr val="bg1"/>
                </a:solidFill>
              </a:rPr>
              <a:t>Threat Categories: </a:t>
            </a:r>
            <a:r>
              <a:rPr lang="en-US" sz="1300" dirty="0">
                <a:solidFill>
                  <a:schemeClr val="bg1"/>
                </a:solidFill>
              </a:rPr>
              <a:t>mix, sub-types</a:t>
            </a:r>
            <a:endParaRPr lang="en-US" sz="1300" dirty="0"/>
          </a:p>
          <a:p>
            <a:pPr marL="0" indent="0">
              <a:spcAft>
                <a:spcPts val="300"/>
              </a:spcAft>
              <a:buNone/>
            </a:pPr>
            <a:r>
              <a:rPr lang="en-US" sz="1300" b="1" dirty="0">
                <a:solidFill>
                  <a:schemeClr val="bg1"/>
                </a:solidFill>
              </a:rPr>
              <a:t>Geographically: </a:t>
            </a:r>
            <a:r>
              <a:rPr lang="en-US" sz="1300" dirty="0">
                <a:solidFill>
                  <a:schemeClr val="bg1"/>
                </a:solidFill>
              </a:rPr>
              <a:t>countries, industries</a:t>
            </a:r>
            <a:endParaRPr lang="en-US" sz="1300" dirty="0"/>
          </a:p>
          <a:p>
            <a:pPr marL="0" indent="0">
              <a:spcAft>
                <a:spcPts val="300"/>
              </a:spcAft>
              <a:buNone/>
            </a:pPr>
            <a:r>
              <a:rPr lang="en-US" sz="1300" b="1" dirty="0">
                <a:solidFill>
                  <a:schemeClr val="bg1"/>
                </a:solidFill>
              </a:rPr>
              <a:t>Detection Process: </a:t>
            </a:r>
            <a:r>
              <a:rPr lang="en-US" sz="1300" dirty="0">
                <a:solidFill>
                  <a:schemeClr val="bg1"/>
                </a:solidFill>
              </a:rPr>
              <a:t>funnel, tools, SLA</a:t>
            </a:r>
            <a:endParaRPr lang="en-US" sz="1300" dirty="0"/>
          </a:p>
          <a:p>
            <a:pPr marL="0" indent="0">
              <a:spcAft>
                <a:spcPts val="300"/>
              </a:spcAft>
              <a:buNone/>
            </a:pPr>
            <a:r>
              <a:rPr lang="en-US" sz="1300" b="1" dirty="0">
                <a:solidFill>
                  <a:schemeClr val="bg1"/>
                </a:solidFill>
              </a:rPr>
              <a:t>Incident Status: </a:t>
            </a:r>
            <a:r>
              <a:rPr lang="en-US" sz="1300" dirty="0">
                <a:solidFill>
                  <a:schemeClr val="bg1"/>
                </a:solidFill>
              </a:rPr>
              <a:t>status by month, severity</a:t>
            </a:r>
            <a:endParaRPr lang="en-US" sz="13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200" b="1" dirty="0">
                <a:solidFill>
                  <a:schemeClr val="bg1"/>
                </a:solidFill>
              </a:rPr>
              <a:t>Volume more than doubled; ransomware leads</a:t>
            </a:r>
            <a:endParaRPr lang="en-US" sz="3200" dirty="0"/>
          </a:p>
        </p:txBody>
      </p:sp>
      <p:sp>
        <p:nvSpPr>
          <p:cNvPr id="3" name="Volume chart card"/>
          <p:cNvSpPr/>
          <p:nvPr/>
        </p:nvSpPr>
        <p:spPr>
          <a:xfrm>
            <a:off x="548640" y="1371600"/>
            <a:ext cx="4572000" cy="3246120"/>
          </a:xfrm>
          <a:prstGeom prst="roundRect">
            <a:avLst>
              <a:gd name="adj" fmla="val 3380"/>
            </a:avLst>
          </a:prstGeom>
          <a:solidFill>
            <a:schemeClr val="tx2"/>
          </a:solidFill>
          <a:ln/>
        </p:spPr>
      </p:sp>
      <p:sp>
        <p:nvSpPr>
          <p:cNvPr id="4" name="Text 2"/>
          <p:cNvSpPr txBox="1"/>
          <p:nvPr/>
        </p:nvSpPr>
        <p:spPr>
          <a:xfrm>
            <a:off x="777240" y="1508760"/>
            <a:ext cx="4114800" cy="274320"/>
          </a:xfrm>
          <a:prstGeom prst="rect">
            <a:avLst/>
          </a:prstGeom>
          <a:noFill/>
          <a:ln/>
        </p:spPr>
        <p:txBody>
          <a:bodyPr wrap="square" lIns="0" tIns="0" rIns="0" bIns="0" rtlCol="0" anchor="t"/>
          <a:lstStyle/>
          <a:p>
            <a:pPr marL="0" indent="0">
              <a:buNone/>
            </a:pPr>
            <a:r>
              <a:rPr lang="en-US" sz="1400" b="1" dirty="0">
                <a:solidFill>
                  <a:schemeClr val="bg2"/>
                </a:solidFill>
              </a:rPr>
              <a:t>Incidents detected per year</a:t>
            </a:r>
            <a:endParaRPr lang="en-US" sz="1400" dirty="0"/>
          </a:p>
        </p:txBody>
      </p:sp>
      <p:graphicFrame>
        <p:nvGraphicFramePr>
          <p:cNvPr id="5" name="Chart 0"/>
          <p:cNvGraphicFramePr/>
          <p:nvPr/>
        </p:nvGraphicFramePr>
        <p:xfrm>
          <a:off x="685800" y="1828800"/>
          <a:ext cx="4297680" cy="2697480"/>
        </p:xfrm>
        <a:graphic>
          <a:graphicData uri="http://schemas.openxmlformats.org/drawingml/2006/chart">
            <c:chart xmlns:c="http://schemas.openxmlformats.org/drawingml/2006/chart" xmlns:r="http://schemas.openxmlformats.org/officeDocument/2006/relationships" r:id="rId3"/>
          </a:graphicData>
        </a:graphic>
      </p:graphicFrame>
      <p:sp>
        <p:nvSpPr>
          <p:cNvPr id="6" name="Mix chart card"/>
          <p:cNvSpPr/>
          <p:nvPr/>
        </p:nvSpPr>
        <p:spPr>
          <a:xfrm>
            <a:off x="5394960" y="1371600"/>
            <a:ext cx="6245352" cy="3246120"/>
          </a:xfrm>
          <a:prstGeom prst="roundRect">
            <a:avLst>
              <a:gd name="adj" fmla="val 3380"/>
            </a:avLst>
          </a:prstGeom>
          <a:solidFill>
            <a:schemeClr val="tx2"/>
          </a:solidFill>
          <a:ln/>
        </p:spPr>
      </p:sp>
      <p:sp>
        <p:nvSpPr>
          <p:cNvPr id="7" name="Text 4"/>
          <p:cNvSpPr txBox="1"/>
          <p:nvPr/>
        </p:nvSpPr>
        <p:spPr>
          <a:xfrm>
            <a:off x="5623560" y="1508760"/>
            <a:ext cx="5760720" cy="274320"/>
          </a:xfrm>
          <a:prstGeom prst="rect">
            <a:avLst/>
          </a:prstGeom>
          <a:noFill/>
          <a:ln/>
        </p:spPr>
        <p:txBody>
          <a:bodyPr wrap="square" lIns="0" tIns="0" rIns="0" bIns="0" rtlCol="0" anchor="t"/>
          <a:lstStyle/>
          <a:p>
            <a:pPr marL="0" indent="0">
              <a:buNone/>
            </a:pPr>
            <a:r>
              <a:rPr lang="en-US" sz="1400" b="1" dirty="0">
                <a:solidFill>
                  <a:schemeClr val="bg2"/>
                </a:solidFill>
              </a:rPr>
              <a:t>Share of incidents by category (%)</a:t>
            </a:r>
            <a:endParaRPr lang="en-US" sz="1400" dirty="0"/>
          </a:p>
        </p:txBody>
      </p:sp>
      <p:graphicFrame>
        <p:nvGraphicFramePr>
          <p:cNvPr id="8" name="Chart 1"/>
          <p:cNvGraphicFramePr/>
          <p:nvPr/>
        </p:nvGraphicFramePr>
        <p:xfrm>
          <a:off x="5532120" y="1783080"/>
          <a:ext cx="5989320" cy="2788920"/>
        </p:xfrm>
        <a:graphic>
          <a:graphicData uri="http://schemas.openxmlformats.org/drawingml/2006/chart">
            <c:chart xmlns:c="http://schemas.openxmlformats.org/drawingml/2006/chart" xmlns:r="http://schemas.openxmlformats.org/officeDocument/2006/relationships" r:id="rId4"/>
          </a:graphicData>
        </a:graphic>
      </p:graphicFrame>
      <p:sp>
        <p:nvSpPr>
          <p:cNvPr id="9" name="Volume KPI 1"/>
          <p:cNvSpPr/>
          <p:nvPr/>
        </p:nvSpPr>
        <p:spPr>
          <a:xfrm>
            <a:off x="548640" y="4800600"/>
            <a:ext cx="2679192" cy="1417320"/>
          </a:xfrm>
          <a:prstGeom prst="roundRect">
            <a:avLst>
              <a:gd name="adj" fmla="val 7742"/>
            </a:avLst>
          </a:prstGeom>
          <a:solidFill>
            <a:schemeClr val="tx2"/>
          </a:solidFill>
          <a:ln/>
        </p:spPr>
      </p:sp>
      <p:sp>
        <p:nvSpPr>
          <p:cNvPr id="10" name="Text 6"/>
          <p:cNvSpPr txBox="1"/>
          <p:nvPr/>
        </p:nvSpPr>
        <p:spPr>
          <a:xfrm>
            <a:off x="777240" y="4910328"/>
            <a:ext cx="2313432" cy="594360"/>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+122%</a:t>
            </a:r>
            <a:endParaRPr lang="en-US" sz="2800" dirty="0"/>
          </a:p>
        </p:txBody>
      </p:sp>
      <p:sp>
        <p:nvSpPr>
          <p:cNvPr id="11" name="Text 7"/>
          <p:cNvSpPr txBox="1"/>
          <p:nvPr/>
        </p:nvSpPr>
        <p:spPr>
          <a:xfrm>
            <a:off x="777240" y="5532120"/>
            <a:ext cx="2313432" cy="274320"/>
          </a:xfrm>
          <a:prstGeom prst="rect">
            <a:avLst/>
          </a:prstGeom>
          <a:noFill/>
          <a:ln/>
        </p:spPr>
        <p:txBody>
          <a:bodyPr wrap="square" lIns="0" tIns="0" rIns="0" bIns="0" rtlCol="0" anchor="t"/>
          <a:lstStyle/>
          <a:p>
            <a:pPr marL="0" indent="0">
              <a:buNone/>
            </a:pPr>
            <a:r>
              <a:rPr lang="en-US" sz="1400" b="1" dirty="0">
                <a:solidFill>
                  <a:schemeClr val="bg1"/>
                </a:solidFill>
              </a:rPr>
              <a:t>more incidents</a:t>
            </a:r>
            <a:endParaRPr lang="en-US" sz="1400" dirty="0"/>
          </a:p>
        </p:txBody>
      </p:sp>
      <p:sp>
        <p:nvSpPr>
          <p:cNvPr id="12" name="Text 8"/>
          <p:cNvSpPr txBox="1"/>
          <p:nvPr/>
        </p:nvSpPr>
        <p:spPr>
          <a:xfrm>
            <a:off x="777240" y="5806440"/>
            <a:ext cx="2313432" cy="365760"/>
          </a:xfrm>
          <a:prstGeom prst="rect">
            <a:avLst/>
          </a:prstGeom>
          <a:noFill/>
          <a:ln/>
        </p:spPr>
        <p:txBody>
          <a:bodyPr wrap="square" lIns="0" tIns="0" rIns="0" bIns="0" rtlCol="0" anchor="t"/>
          <a:lstStyle/>
          <a:p>
            <a:pPr marL="0" indent="0">
              <a:buNone/>
            </a:pPr>
            <a:r>
              <a:rPr lang="en-US" sz="1200" dirty="0">
                <a:solidFill>
                  <a:schemeClr val="bg2"/>
                </a:solidFill>
              </a:rPr>
              <a:t>7,200 to 16,000 (2025); average month 600 to 1,333</a:t>
            </a:r>
            <a:endParaRPr lang="en-US" sz="1200" dirty="0"/>
          </a:p>
        </p:txBody>
      </p:sp>
      <p:sp>
        <p:nvSpPr>
          <p:cNvPr id="13" name="Volume KPI 2"/>
          <p:cNvSpPr/>
          <p:nvPr/>
        </p:nvSpPr>
        <p:spPr>
          <a:xfrm>
            <a:off x="3383280" y="4800600"/>
            <a:ext cx="2679192" cy="1417320"/>
          </a:xfrm>
          <a:prstGeom prst="roundRect">
            <a:avLst>
              <a:gd name="adj" fmla="val 7742"/>
            </a:avLst>
          </a:prstGeom>
          <a:solidFill>
            <a:schemeClr val="tx2"/>
          </a:solidFill>
          <a:ln/>
        </p:spPr>
      </p:sp>
      <p:sp>
        <p:nvSpPr>
          <p:cNvPr id="14" name="Text 10"/>
          <p:cNvSpPr txBox="1"/>
          <p:nvPr/>
        </p:nvSpPr>
        <p:spPr>
          <a:xfrm>
            <a:off x="3611880" y="4910328"/>
            <a:ext cx="2313432" cy="594360"/>
          </a:xfrm>
          <a:prstGeom prst="rect">
            <a:avLst/>
          </a:prstGeom>
          <a:noFill/>
          <a:ln/>
        </p:spPr>
        <p:txBody>
          <a:bodyPr wrap="square" lIns="0" tIns="0" rIns="0" bIns="0" rtlCol="0" anchor="ctr"/>
          <a:lstStyle/>
          <a:p>
            <a:pPr marL="0" indent="0">
              <a:buNone/>
            </a:pPr>
            <a:r>
              <a:rPr lang="en-US" sz="2800" b="1" dirty="0">
                <a:solidFill>
                  <a:schemeClr val="accent5"/>
                </a:solidFill>
                <a:latin typeface="Cambria" pitchFamily="34" charset="0"/>
                <a:ea typeface="Cambria" pitchFamily="34" charset="-122"/>
                <a:cs typeface="Cambria" pitchFamily="34" charset="-120"/>
              </a:rPr>
              <a:t>2.8x</a:t>
            </a:r>
            <a:endParaRPr lang="en-US" sz="2800" dirty="0"/>
          </a:p>
        </p:txBody>
      </p:sp>
      <p:sp>
        <p:nvSpPr>
          <p:cNvPr id="15" name="Text 11"/>
          <p:cNvSpPr txBox="1"/>
          <p:nvPr/>
        </p:nvSpPr>
        <p:spPr>
          <a:xfrm>
            <a:off x="3611880" y="5532120"/>
            <a:ext cx="2313432" cy="274320"/>
          </a:xfrm>
          <a:prstGeom prst="rect">
            <a:avLst/>
          </a:prstGeom>
          <a:noFill/>
          <a:ln/>
        </p:spPr>
        <p:txBody>
          <a:bodyPr wrap="square" lIns="0" tIns="0" rIns="0" bIns="0" rtlCol="0" anchor="t"/>
          <a:lstStyle/>
          <a:p>
            <a:pPr marL="0" indent="0">
              <a:buNone/>
            </a:pPr>
            <a:r>
              <a:rPr lang="en-US" sz="1400" b="1" dirty="0">
                <a:solidFill>
                  <a:schemeClr val="bg1"/>
                </a:solidFill>
              </a:rPr>
              <a:t>Critical incidents</a:t>
            </a:r>
            <a:endParaRPr lang="en-US" sz="1400" dirty="0"/>
          </a:p>
        </p:txBody>
      </p:sp>
      <p:sp>
        <p:nvSpPr>
          <p:cNvPr id="16" name="Text 12"/>
          <p:cNvSpPr txBox="1"/>
          <p:nvPr/>
        </p:nvSpPr>
        <p:spPr>
          <a:xfrm>
            <a:off x="3611880" y="5806440"/>
            <a:ext cx="2313432" cy="365760"/>
          </a:xfrm>
          <a:prstGeom prst="rect">
            <a:avLst/>
          </a:prstGeom>
          <a:noFill/>
          <a:ln/>
        </p:spPr>
        <p:txBody>
          <a:bodyPr wrap="square" lIns="0" tIns="0" rIns="0" bIns="0" rtlCol="0" anchor="t"/>
          <a:lstStyle/>
          <a:p>
            <a:pPr marL="0" indent="0">
              <a:buNone/>
            </a:pPr>
            <a:r>
              <a:rPr lang="en-US" sz="1200" dirty="0">
                <a:solidFill>
                  <a:schemeClr val="bg2"/>
                </a:solidFill>
              </a:rPr>
              <a:t>1,157 to 3,221 (2025); 16% to 20% of volume</a:t>
            </a:r>
            <a:endParaRPr lang="en-US" sz="1200" dirty="0"/>
          </a:p>
        </p:txBody>
      </p:sp>
      <p:sp>
        <p:nvSpPr>
          <p:cNvPr id="17" name="Volume KPI 3"/>
          <p:cNvSpPr/>
          <p:nvPr/>
        </p:nvSpPr>
        <p:spPr>
          <a:xfrm>
            <a:off x="6217920" y="4800600"/>
            <a:ext cx="2679192" cy="1417320"/>
          </a:xfrm>
          <a:prstGeom prst="roundRect">
            <a:avLst>
              <a:gd name="adj" fmla="val 7742"/>
            </a:avLst>
          </a:prstGeom>
          <a:solidFill>
            <a:schemeClr val="tx2"/>
          </a:solidFill>
          <a:ln/>
        </p:spPr>
      </p:sp>
      <p:sp>
        <p:nvSpPr>
          <p:cNvPr id="18" name="Text 14"/>
          <p:cNvSpPr txBox="1"/>
          <p:nvPr/>
        </p:nvSpPr>
        <p:spPr>
          <a:xfrm>
            <a:off x="6446520" y="4910328"/>
            <a:ext cx="2313432" cy="594360"/>
          </a:xfrm>
          <a:prstGeom prst="rect">
            <a:avLst/>
          </a:prstGeom>
          <a:noFill/>
          <a:ln/>
        </p:spPr>
        <p:txBody>
          <a:bodyPr wrap="square" lIns="0" tIns="0" rIns="0" bIns="0" rtlCol="0" anchor="ctr"/>
          <a:lstStyle/>
          <a:p>
            <a:pPr marL="0" indent="0">
              <a:buNone/>
            </a:pPr>
            <a:r>
              <a:rPr lang="en-US" sz="2800" b="1" dirty="0">
                <a:solidFill>
                  <a:schemeClr val="accent1"/>
                </a:solidFill>
                <a:latin typeface="Cambria" pitchFamily="34" charset="0"/>
                <a:ea typeface="Cambria" pitchFamily="34" charset="-122"/>
                <a:cs typeface="Cambria" pitchFamily="34" charset="-120"/>
              </a:rPr>
              <a:t>12% → 27%</a:t>
            </a:r>
            <a:endParaRPr lang="en-US" sz="2800" dirty="0"/>
          </a:p>
        </p:txBody>
      </p:sp>
      <p:sp>
        <p:nvSpPr>
          <p:cNvPr id="19" name="Text 15"/>
          <p:cNvSpPr txBox="1"/>
          <p:nvPr/>
        </p:nvSpPr>
        <p:spPr>
          <a:xfrm>
            <a:off x="6446520" y="5532120"/>
            <a:ext cx="2313432" cy="274320"/>
          </a:xfrm>
          <a:prstGeom prst="rect">
            <a:avLst/>
          </a:prstGeom>
          <a:noFill/>
          <a:ln/>
        </p:spPr>
        <p:txBody>
          <a:bodyPr wrap="square" lIns="0" tIns="0" rIns="0" bIns="0" rtlCol="0" anchor="t"/>
          <a:lstStyle/>
          <a:p>
            <a:pPr marL="0" indent="0">
              <a:buNone/>
            </a:pPr>
            <a:r>
              <a:rPr lang="en-US" sz="1400" b="1" dirty="0">
                <a:solidFill>
                  <a:schemeClr val="bg1"/>
                </a:solidFill>
              </a:rPr>
              <a:t>ransomware share</a:t>
            </a:r>
            <a:endParaRPr lang="en-US" sz="1400" dirty="0"/>
          </a:p>
        </p:txBody>
      </p:sp>
      <p:sp>
        <p:nvSpPr>
          <p:cNvPr id="20" name="Text 16"/>
          <p:cNvSpPr txBox="1"/>
          <p:nvPr/>
        </p:nvSpPr>
        <p:spPr>
          <a:xfrm>
            <a:off x="6446520" y="5806440"/>
            <a:ext cx="2313432" cy="365760"/>
          </a:xfrm>
          <a:prstGeom prst="rect">
            <a:avLst/>
          </a:prstGeom>
          <a:noFill/>
          <a:ln/>
        </p:spPr>
        <p:txBody>
          <a:bodyPr wrap="square" lIns="0" tIns="0" rIns="0" bIns="0" rtlCol="0" anchor="t"/>
          <a:lstStyle/>
          <a:p>
            <a:pPr marL="0" indent="0">
              <a:buNone/>
            </a:pPr>
            <a:r>
              <a:rPr lang="en-US" sz="1200" dirty="0">
                <a:solidFill>
                  <a:schemeClr val="bg2"/>
                </a:solidFill>
              </a:rPr>
              <a:t>887 to 3,964 incidents (4.5x) by 2025; 27% in 2026 YTD</a:t>
            </a:r>
            <a:endParaRPr lang="en-US" sz="1200" dirty="0"/>
          </a:p>
        </p:txBody>
      </p:sp>
      <p:sp>
        <p:nvSpPr>
          <p:cNvPr id="21" name="Volume KPI 4"/>
          <p:cNvSpPr/>
          <p:nvPr/>
        </p:nvSpPr>
        <p:spPr>
          <a:xfrm>
            <a:off x="9052560" y="4800600"/>
            <a:ext cx="2679192" cy="1417320"/>
          </a:xfrm>
          <a:prstGeom prst="roundRect">
            <a:avLst>
              <a:gd name="adj" fmla="val 7742"/>
            </a:avLst>
          </a:prstGeom>
          <a:solidFill>
            <a:schemeClr val="tx2"/>
          </a:solidFill>
          <a:ln/>
        </p:spPr>
      </p:sp>
      <p:sp>
        <p:nvSpPr>
          <p:cNvPr id="22" name="Text 18"/>
          <p:cNvSpPr txBox="1"/>
          <p:nvPr/>
        </p:nvSpPr>
        <p:spPr>
          <a:xfrm>
            <a:off x="9281160" y="4910328"/>
            <a:ext cx="2313432" cy="594360"/>
          </a:xfrm>
          <a:prstGeom prst="rect">
            <a:avLst/>
          </a:prstGeom>
          <a:noFill/>
          <a:ln/>
        </p:spPr>
        <p:txBody>
          <a:bodyPr wrap="square" lIns="0" tIns="0" rIns="0" bIns="0" rtlCol="0" anchor="ctr"/>
          <a:lstStyle/>
          <a:p>
            <a:pPr marL="0" indent="0">
              <a:buNone/>
            </a:pPr>
            <a:r>
              <a:rPr lang="en-US" sz="2800" b="1" dirty="0">
                <a:solidFill>
                  <a:schemeClr val="accent3"/>
                </a:solidFill>
                <a:latin typeface="Cambria" pitchFamily="34" charset="0"/>
                <a:ea typeface="Cambria" pitchFamily="34" charset="-122"/>
                <a:cs typeface="Cambria" pitchFamily="34" charset="-120"/>
              </a:rPr>
              <a:t>26%</a:t>
            </a:r>
            <a:endParaRPr lang="en-US" sz="2800" dirty="0"/>
          </a:p>
        </p:txBody>
      </p:sp>
      <p:sp>
        <p:nvSpPr>
          <p:cNvPr id="23" name="Text 19"/>
          <p:cNvSpPr txBox="1"/>
          <p:nvPr/>
        </p:nvSpPr>
        <p:spPr>
          <a:xfrm>
            <a:off x="9281160" y="5532120"/>
            <a:ext cx="2313432" cy="274320"/>
          </a:xfrm>
          <a:prstGeom prst="rect">
            <a:avLst/>
          </a:prstGeom>
          <a:noFill/>
          <a:ln/>
        </p:spPr>
        <p:txBody>
          <a:bodyPr wrap="square" lIns="0" tIns="0" rIns="0" bIns="0" rtlCol="0" anchor="t"/>
          <a:lstStyle/>
          <a:p>
            <a:pPr marL="0" indent="0">
              <a:buNone/>
            </a:pPr>
            <a:r>
              <a:rPr lang="en-US" sz="1400" b="1" dirty="0">
                <a:solidFill>
                  <a:schemeClr val="bg1"/>
                </a:solidFill>
              </a:rPr>
              <a:t>phishing, now #2</a:t>
            </a:r>
            <a:endParaRPr lang="en-US" sz="1400" dirty="0"/>
          </a:p>
        </p:txBody>
      </p:sp>
      <p:sp>
        <p:nvSpPr>
          <p:cNvPr id="24" name="Text 20"/>
          <p:cNvSpPr txBox="1"/>
          <p:nvPr/>
        </p:nvSpPr>
        <p:spPr>
          <a:xfrm>
            <a:off x="9281160" y="5806440"/>
            <a:ext cx="2313432" cy="365760"/>
          </a:xfrm>
          <a:prstGeom prst="rect">
            <a:avLst/>
          </a:prstGeom>
          <a:noFill/>
          <a:ln/>
        </p:spPr>
        <p:txBody>
          <a:bodyPr wrap="square" lIns="0" tIns="0" rIns="0" bIns="0" rtlCol="0" anchor="t"/>
          <a:lstStyle/>
          <a:p>
            <a:pPr marL="0" indent="0">
              <a:buNone/>
            </a:pPr>
            <a:r>
              <a:rPr lang="en-US" sz="1200" dirty="0">
                <a:solidFill>
                  <a:schemeClr val="bg2"/>
                </a:solidFill>
              </a:rPr>
              <a:t>#1 every year to 2025; ransomware leads in 2026 YTD</a:t>
            </a:r>
            <a:endParaRPr lang="en-US" sz="12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200" b="1" dirty="0">
                <a:solidFill>
                  <a:schemeClr val="bg1"/>
                </a:solidFill>
              </a:rPr>
              <a:t>Ransomware dominates cost; origin is concentrated</a:t>
            </a:r>
            <a:endParaRPr lang="en-US" sz="3200" dirty="0"/>
          </a:p>
        </p:txBody>
      </p:sp>
      <p:sp>
        <p:nvSpPr>
          <p:cNvPr id="3" name="Impact card"/>
          <p:cNvSpPr/>
          <p:nvPr/>
        </p:nvSpPr>
        <p:spPr>
          <a:xfrm>
            <a:off x="548640" y="1371600"/>
            <a:ext cx="5394960" cy="4846320"/>
          </a:xfrm>
          <a:prstGeom prst="roundRect">
            <a:avLst>
              <a:gd name="adj" fmla="val 2264"/>
            </a:avLst>
          </a:prstGeom>
          <a:solidFill>
            <a:schemeClr val="tx2"/>
          </a:solidFill>
          <a:ln/>
        </p:spPr>
      </p:sp>
      <p:sp>
        <p:nvSpPr>
          <p:cNvPr id="4" name="Text 2"/>
          <p:cNvSpPr txBox="1"/>
          <p:nvPr/>
        </p:nvSpPr>
        <p:spPr>
          <a:xfrm>
            <a:off x="777240" y="1508760"/>
            <a:ext cx="4937760" cy="274320"/>
          </a:xfrm>
          <a:prstGeom prst="rect">
            <a:avLst/>
          </a:prstGeom>
          <a:noFill/>
          <a:ln/>
        </p:spPr>
        <p:txBody>
          <a:bodyPr wrap="square" lIns="0" tIns="0" rIns="0" bIns="0" rtlCol="0" anchor="t"/>
          <a:lstStyle/>
          <a:p>
            <a:pPr marL="0" indent="0">
              <a:buNone/>
            </a:pPr>
            <a:r>
              <a:rPr lang="en-US" sz="1400" b="1" dirty="0">
                <a:solidFill>
                  <a:schemeClr val="bg2"/>
                </a:solidFill>
              </a:rPr>
              <a:t>Estimated impact by category, 2020 to 2026 YTD ($M)</a:t>
            </a:r>
            <a:endParaRPr lang="en-US" sz="1400" dirty="0"/>
          </a:p>
        </p:txBody>
      </p:sp>
      <p:graphicFrame>
        <p:nvGraphicFramePr>
          <p:cNvPr id="5" name="Chart 0"/>
          <p:cNvGraphicFramePr/>
          <p:nvPr/>
        </p:nvGraphicFramePr>
        <p:xfrm>
          <a:off x="685800" y="1828800"/>
          <a:ext cx="512064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777240" y="4846320"/>
            <a:ext cx="2103120" cy="640080"/>
          </a:xfrm>
          <a:prstGeom prst="rect">
            <a:avLst/>
          </a:prstGeom>
          <a:noFill/>
          <a:ln/>
        </p:spPr>
        <p:txBody>
          <a:bodyPr wrap="square" lIns="0" tIns="0" rIns="0" bIns="0" rtlCol="0" anchor="ctr"/>
          <a:lstStyle/>
          <a:p>
            <a:pPr marL="0" indent="0">
              <a:buNone/>
            </a:pPr>
            <a:r>
              <a:rPr lang="en-US" sz="4000" b="1" dirty="0">
                <a:solidFill>
                  <a:schemeClr val="accent2"/>
                </a:solidFill>
                <a:latin typeface="Cambria" pitchFamily="34" charset="0"/>
                <a:ea typeface="Cambria" pitchFamily="34" charset="-122"/>
                <a:cs typeface="Cambria" pitchFamily="34" charset="-120"/>
              </a:rPr>
              <a:t>$6.7B</a:t>
            </a:r>
            <a:endParaRPr lang="en-US" sz="4000" dirty="0"/>
          </a:p>
        </p:txBody>
      </p:sp>
      <p:sp>
        <p:nvSpPr>
          <p:cNvPr id="7" name="Text 4"/>
          <p:cNvSpPr txBox="1"/>
          <p:nvPr/>
        </p:nvSpPr>
        <p:spPr>
          <a:xfrm>
            <a:off x="2926080" y="4846320"/>
            <a:ext cx="2834640" cy="685800"/>
          </a:xfrm>
          <a:prstGeom prst="rect">
            <a:avLst/>
          </a:prstGeom>
          <a:noFill/>
          <a:ln/>
        </p:spPr>
        <p:txBody>
          <a:bodyPr wrap="square" lIns="0" tIns="0" rIns="0" bIns="0" rtlCol="0" anchor="ctr"/>
          <a:lstStyle/>
          <a:p>
            <a:pPr marL="0" indent="0">
              <a:buNone/>
            </a:pPr>
            <a:r>
              <a:rPr lang="en-US" sz="1400" dirty="0">
                <a:solidFill>
                  <a:schemeClr val="bg1"/>
                </a:solidFill>
              </a:rPr>
              <a:t>from ransomware: 64% of the $10.4B total. Malware is next at $951M.</a:t>
            </a:r>
            <a:endParaRPr lang="en-US" sz="1400" dirty="0"/>
          </a:p>
        </p:txBody>
      </p:sp>
      <p:sp>
        <p:nvSpPr>
          <p:cNvPr id="8" name="Text 5"/>
          <p:cNvSpPr txBox="1"/>
          <p:nvPr/>
        </p:nvSpPr>
        <p:spPr>
          <a:xfrm>
            <a:off x="777240" y="5669280"/>
            <a:ext cx="4937760" cy="274320"/>
          </a:xfrm>
          <a:prstGeom prst="rect">
            <a:avLst/>
          </a:prstGeom>
          <a:noFill/>
          <a:ln/>
        </p:spPr>
        <p:txBody>
          <a:bodyPr wrap="square" lIns="0" tIns="0" rIns="0" bIns="0" rtlCol="0" anchor="t"/>
          <a:lstStyle/>
          <a:p>
            <a:pPr marL="0" indent="0">
              <a:buNone/>
            </a:pPr>
            <a:r>
              <a:rPr lang="en-US" sz="1200" i="1" dirty="0">
                <a:solidFill>
                  <a:schemeClr val="bg2"/>
                </a:solidFill>
              </a:rPr>
              <a:t>Impact is the dataset's per-incident estimate.</a:t>
            </a:r>
            <a:endParaRPr lang="en-US" sz="1200" dirty="0"/>
          </a:p>
        </p:txBody>
      </p:sp>
      <p:sp>
        <p:nvSpPr>
          <p:cNvPr id="9" name="Screenshot frame"/>
          <p:cNvSpPr/>
          <p:nvPr/>
        </p:nvSpPr>
        <p:spPr>
          <a:xfrm>
            <a:off x="6208776" y="1371600"/>
            <a:ext cx="5486400" cy="3022092"/>
          </a:xfrm>
          <a:prstGeom prst="roundRect">
            <a:avLst>
              <a:gd name="adj" fmla="val 2421"/>
            </a:avLst>
          </a:prstGeom>
          <a:solidFill>
            <a:schemeClr val="tx2"/>
          </a:solidFill>
          <a:ln/>
        </p:spPr>
      </p:sp>
      <p:pic>
        <p:nvPicPr>
          <p:cNvPr id="10" name="Image 0" descr="Dashboard geographic view: bubbles by source country"/>
          <p:cNvPicPr>
            <a:picLocks noChangeAspect="1"/>
          </p:cNvPicPr>
          <p:nvPr/>
        </p:nvPicPr>
        <p:blipFill>
          <a:blip r:embed="rId4"/>
          <a:stretch>
            <a:fillRect/>
          </a:stretch>
        </p:blipFill>
        <p:spPr>
          <a:xfrm>
            <a:off x="6263640" y="1426464"/>
            <a:ext cx="5376672" cy="2912364"/>
          </a:xfrm>
          <a:prstGeom prst="rect">
            <a:avLst/>
          </a:prstGeom>
        </p:spPr>
      </p:pic>
      <p:sp>
        <p:nvSpPr>
          <p:cNvPr id="11" name="Text 7"/>
          <p:cNvSpPr txBox="1"/>
          <p:nvPr/>
        </p:nvSpPr>
        <p:spPr>
          <a:xfrm>
            <a:off x="6263640" y="4430268"/>
            <a:ext cx="5376672" cy="228600"/>
          </a:xfrm>
          <a:prstGeom prst="rect">
            <a:avLst/>
          </a:prstGeom>
          <a:noFill/>
          <a:ln/>
        </p:spPr>
        <p:txBody>
          <a:bodyPr wrap="square" lIns="0" tIns="0" rIns="0" bIns="0" rtlCol="0" anchor="t"/>
          <a:lstStyle/>
          <a:p>
            <a:pPr marL="0" indent="0">
              <a:buNone/>
            </a:pPr>
            <a:r>
              <a:rPr lang="en-US" sz="1100" dirty="0">
                <a:solidFill>
                  <a:schemeClr val="bg2"/>
                </a:solidFill>
              </a:rPr>
              <a:t>Geographic view, 2026 YTD</a:t>
            </a:r>
            <a:endParaRPr lang="en-US" sz="1100" dirty="0"/>
          </a:p>
        </p:txBody>
      </p:sp>
      <p:sp>
        <p:nvSpPr>
          <p:cNvPr id="12" name="Origin KPI"/>
          <p:cNvSpPr/>
          <p:nvPr/>
        </p:nvSpPr>
        <p:spPr>
          <a:xfrm>
            <a:off x="6263640" y="4754880"/>
            <a:ext cx="2560320" cy="1463040"/>
          </a:xfrm>
          <a:prstGeom prst="roundRect">
            <a:avLst>
              <a:gd name="adj" fmla="val 7500"/>
            </a:avLst>
          </a:prstGeom>
          <a:solidFill>
            <a:schemeClr val="tx2"/>
          </a:solidFill>
          <a:ln/>
        </p:spPr>
      </p:sp>
      <p:sp>
        <p:nvSpPr>
          <p:cNvPr id="13" name="Text 9"/>
          <p:cNvSpPr txBox="1"/>
          <p:nvPr/>
        </p:nvSpPr>
        <p:spPr>
          <a:xfrm>
            <a:off x="6492240" y="4864608"/>
            <a:ext cx="2194560" cy="594360"/>
          </a:xfrm>
          <a:prstGeom prst="rect">
            <a:avLst/>
          </a:prstGeom>
          <a:noFill/>
          <a:ln/>
        </p:spPr>
        <p:txBody>
          <a:bodyPr wrap="square" lIns="0" tIns="0" rIns="0" bIns="0" rtlCol="0" anchor="ctr"/>
          <a:lstStyle/>
          <a:p>
            <a:pPr marL="0" indent="0">
              <a:buNone/>
            </a:pPr>
            <a:r>
              <a:rPr lang="en-US" sz="3200" b="1" dirty="0">
                <a:solidFill>
                  <a:schemeClr val="accent2"/>
                </a:solidFill>
                <a:latin typeface="Cambria" pitchFamily="34" charset="0"/>
                <a:ea typeface="Cambria" pitchFamily="34" charset="-122"/>
                <a:cs typeface="Cambria" pitchFamily="34" charset="-120"/>
              </a:rPr>
              <a:t>35%</a:t>
            </a:r>
            <a:endParaRPr lang="en-US" sz="3200" dirty="0"/>
          </a:p>
        </p:txBody>
      </p:sp>
      <p:sp>
        <p:nvSpPr>
          <p:cNvPr id="14" name="Text 10"/>
          <p:cNvSpPr txBox="1"/>
          <p:nvPr/>
        </p:nvSpPr>
        <p:spPr>
          <a:xfrm>
            <a:off x="6492240" y="5486400"/>
            <a:ext cx="2194560" cy="274320"/>
          </a:xfrm>
          <a:prstGeom prst="rect">
            <a:avLst/>
          </a:prstGeom>
          <a:noFill/>
          <a:ln/>
        </p:spPr>
        <p:txBody>
          <a:bodyPr wrap="square" lIns="0" tIns="0" rIns="0" bIns="0" rtlCol="0" anchor="t"/>
          <a:lstStyle/>
          <a:p>
            <a:pPr marL="0" indent="0">
              <a:buNone/>
            </a:pPr>
            <a:r>
              <a:rPr lang="en-US" sz="1400" b="1" dirty="0">
                <a:solidFill>
                  <a:schemeClr val="bg1"/>
                </a:solidFill>
              </a:rPr>
              <a:t>China + Russia</a:t>
            </a:r>
            <a:endParaRPr lang="en-US" sz="1400" dirty="0"/>
          </a:p>
        </p:txBody>
      </p:sp>
      <p:sp>
        <p:nvSpPr>
          <p:cNvPr id="15" name="Text 11"/>
          <p:cNvSpPr txBox="1"/>
          <p:nvPr/>
        </p:nvSpPr>
        <p:spPr>
          <a:xfrm>
            <a:off x="6492240" y="5760720"/>
            <a:ext cx="2194560" cy="411480"/>
          </a:xfrm>
          <a:prstGeom prst="rect">
            <a:avLst/>
          </a:prstGeom>
          <a:noFill/>
          <a:ln/>
        </p:spPr>
        <p:txBody>
          <a:bodyPr wrap="square" lIns="0" tIns="0" rIns="0" bIns="0" rtlCol="0" anchor="t"/>
          <a:lstStyle/>
          <a:p>
            <a:pPr marL="0" indent="0">
              <a:buNone/>
            </a:pPr>
            <a:r>
              <a:rPr lang="en-US" sz="1200" dirty="0">
                <a:solidFill>
                  <a:schemeClr val="bg2"/>
                </a:solidFill>
              </a:rPr>
              <a:t>14,882 and 13,162 incidents; the top two source countries</a:t>
            </a:r>
            <a:endParaRPr lang="en-US" sz="1200" dirty="0"/>
          </a:p>
        </p:txBody>
      </p:sp>
      <p:sp>
        <p:nvSpPr>
          <p:cNvPr id="16" name="Industry KPI"/>
          <p:cNvSpPr/>
          <p:nvPr/>
        </p:nvSpPr>
        <p:spPr>
          <a:xfrm>
            <a:off x="9079992" y="4754880"/>
            <a:ext cx="2560320" cy="1463040"/>
          </a:xfrm>
          <a:prstGeom prst="roundRect">
            <a:avLst>
              <a:gd name="adj" fmla="val 7500"/>
            </a:avLst>
          </a:prstGeom>
          <a:solidFill>
            <a:schemeClr val="tx2"/>
          </a:solidFill>
          <a:ln/>
        </p:spPr>
      </p:sp>
      <p:sp>
        <p:nvSpPr>
          <p:cNvPr id="17" name="Text 13"/>
          <p:cNvSpPr txBox="1"/>
          <p:nvPr/>
        </p:nvSpPr>
        <p:spPr>
          <a:xfrm>
            <a:off x="9308592" y="4864608"/>
            <a:ext cx="2194560" cy="594360"/>
          </a:xfrm>
          <a:prstGeom prst="rect">
            <a:avLst/>
          </a:prstGeom>
          <a:noFill/>
          <a:ln/>
        </p:spPr>
        <p:txBody>
          <a:bodyPr wrap="square" lIns="0" tIns="0" rIns="0" bIns="0" rtlCol="0" anchor="ctr"/>
          <a:lstStyle/>
          <a:p>
            <a:pPr marL="0" indent="0">
              <a:buNone/>
            </a:pPr>
            <a:r>
              <a:rPr lang="en-US" sz="3000" b="1" dirty="0">
                <a:solidFill>
                  <a:schemeClr val="accent3"/>
                </a:solidFill>
                <a:latin typeface="Cambria" pitchFamily="34" charset="0"/>
                <a:ea typeface="Cambria" pitchFamily="34" charset="-122"/>
                <a:cs typeface="Cambria" pitchFamily="34" charset="-120"/>
              </a:rPr>
              <a:t>Finance</a:t>
            </a:r>
            <a:endParaRPr lang="en-US" sz="3000" dirty="0"/>
          </a:p>
        </p:txBody>
      </p:sp>
      <p:sp>
        <p:nvSpPr>
          <p:cNvPr id="18" name="Text 14"/>
          <p:cNvSpPr txBox="1"/>
          <p:nvPr/>
        </p:nvSpPr>
        <p:spPr>
          <a:xfrm>
            <a:off x="9308592" y="5486400"/>
            <a:ext cx="2194560" cy="274320"/>
          </a:xfrm>
          <a:prstGeom prst="rect">
            <a:avLst/>
          </a:prstGeom>
          <a:noFill/>
          <a:ln/>
        </p:spPr>
        <p:txBody>
          <a:bodyPr wrap="square" lIns="0" tIns="0" rIns="0" bIns="0" rtlCol="0" anchor="t"/>
          <a:lstStyle/>
          <a:p>
            <a:pPr marL="0" indent="0">
              <a:buNone/>
            </a:pPr>
            <a:r>
              <a:rPr lang="en-US" sz="1400" b="1" dirty="0">
                <a:solidFill>
                  <a:schemeClr val="bg1"/>
                </a:solidFill>
              </a:rPr>
              <a:t>top target industry</a:t>
            </a:r>
            <a:endParaRPr lang="en-US" sz="1400" dirty="0"/>
          </a:p>
        </p:txBody>
      </p:sp>
      <p:sp>
        <p:nvSpPr>
          <p:cNvPr id="19" name="Text 15"/>
          <p:cNvSpPr txBox="1"/>
          <p:nvPr/>
        </p:nvSpPr>
        <p:spPr>
          <a:xfrm>
            <a:off x="9308592" y="5760720"/>
            <a:ext cx="2194560" cy="411480"/>
          </a:xfrm>
          <a:prstGeom prst="rect">
            <a:avLst/>
          </a:prstGeom>
          <a:noFill/>
          <a:ln/>
        </p:spPr>
        <p:txBody>
          <a:bodyPr wrap="square" lIns="0" tIns="0" rIns="0" bIns="0" rtlCol="0" anchor="t"/>
          <a:lstStyle/>
          <a:p>
            <a:pPr marL="0" indent="0">
              <a:buNone/>
            </a:pPr>
            <a:r>
              <a:rPr lang="en-US" sz="1200" dirty="0">
                <a:solidFill>
                  <a:schemeClr val="bg2"/>
                </a:solidFill>
              </a:rPr>
              <a:t>15,148 incidents, ahead of Healthcare at 12,705</a:t>
            </a:r>
            <a:endParaRPr lang="en-US" sz="12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200" b="1" dirty="0">
                <a:solidFill>
                  <a:schemeClr val="bg1"/>
                </a:solidFill>
              </a:rPr>
              <a:t>Response got faster; two tools do most detecting</a:t>
            </a:r>
            <a:endParaRPr lang="en-US" sz="3200" dirty="0"/>
          </a:p>
        </p:txBody>
      </p:sp>
      <p:sp>
        <p:nvSpPr>
          <p:cNvPr id="3" name="Response card 1"/>
          <p:cNvSpPr/>
          <p:nvPr/>
        </p:nvSpPr>
        <p:spPr>
          <a:xfrm>
            <a:off x="548640" y="1371600"/>
            <a:ext cx="3566160" cy="2926080"/>
          </a:xfrm>
          <a:prstGeom prst="roundRect">
            <a:avLst>
              <a:gd name="adj" fmla="val 3750"/>
            </a:avLst>
          </a:prstGeom>
          <a:solidFill>
            <a:schemeClr val="tx2"/>
          </a:solidFill>
          <a:ln/>
        </p:spPr>
      </p:sp>
      <p:sp>
        <p:nvSpPr>
          <p:cNvPr id="4" name="Text 2"/>
          <p:cNvSpPr txBox="1"/>
          <p:nvPr/>
        </p:nvSpPr>
        <p:spPr>
          <a:xfrm>
            <a:off x="777240" y="1481328"/>
            <a:ext cx="3108960" cy="274320"/>
          </a:xfrm>
          <a:prstGeom prst="rect">
            <a:avLst/>
          </a:prstGeom>
          <a:noFill/>
          <a:ln/>
        </p:spPr>
        <p:txBody>
          <a:bodyPr wrap="square" lIns="0" tIns="0" rIns="0" bIns="0" rtlCol="0" anchor="t"/>
          <a:lstStyle/>
          <a:p>
            <a:pPr marL="0" indent="0">
              <a:buNone/>
            </a:pPr>
            <a:r>
              <a:rPr lang="en-US" sz="1300" b="1" dirty="0">
                <a:solidFill>
                  <a:schemeClr val="bg2"/>
                </a:solidFill>
              </a:rPr>
              <a:t>Mean time to respond (hrs)</a:t>
            </a:r>
            <a:endParaRPr lang="en-US" sz="1300" dirty="0"/>
          </a:p>
        </p:txBody>
      </p:sp>
      <p:sp>
        <p:nvSpPr>
          <p:cNvPr id="5" name="Text 3"/>
          <p:cNvSpPr txBox="1"/>
          <p:nvPr/>
        </p:nvSpPr>
        <p:spPr>
          <a:xfrm>
            <a:off x="777240" y="1783080"/>
            <a:ext cx="3108960" cy="457200"/>
          </a:xfrm>
          <a:prstGeom prst="rect">
            <a:avLst/>
          </a:prstGeom>
          <a:noFill/>
          <a:ln/>
        </p:spPr>
        <p:txBody>
          <a:bodyPr wrap="square" lIns="0" tIns="0" rIns="0" bIns="0" rtlCol="0" anchor="ctr"/>
          <a:lstStyle/>
          <a:p>
            <a:pPr marL="0" indent="0">
              <a:buNone/>
            </a:pPr>
            <a:r>
              <a:rPr lang="en-US" sz="2600" b="1" dirty="0">
                <a:solidFill>
                  <a:schemeClr val="accent3"/>
                </a:solidFill>
                <a:latin typeface="Cambria" pitchFamily="34" charset="0"/>
                <a:ea typeface="Cambria" pitchFamily="34" charset="-122"/>
                <a:cs typeface="Cambria" pitchFamily="34" charset="-120"/>
              </a:rPr>
              <a:t>3.21 → 1.74</a:t>
            </a:r>
            <a:endParaRPr lang="en-US" sz="2600" dirty="0"/>
          </a:p>
        </p:txBody>
      </p:sp>
      <p:graphicFrame>
        <p:nvGraphicFramePr>
          <p:cNvPr id="6" name="Chart 0"/>
          <p:cNvGraphicFramePr/>
          <p:nvPr/>
        </p:nvGraphicFramePr>
        <p:xfrm>
          <a:off x="612648" y="2286000"/>
          <a:ext cx="3429000" cy="1828800"/>
        </p:xfrm>
        <a:graphic>
          <a:graphicData uri="http://schemas.openxmlformats.org/drawingml/2006/chart">
            <c:chart xmlns:c="http://schemas.openxmlformats.org/drawingml/2006/chart" xmlns:r="http://schemas.openxmlformats.org/officeDocument/2006/relationships" r:id="rId3"/>
          </a:graphicData>
        </a:graphic>
      </p:graphicFrame>
      <p:sp>
        <p:nvSpPr>
          <p:cNvPr id="7" name="Response card 2"/>
          <p:cNvSpPr/>
          <p:nvPr/>
        </p:nvSpPr>
        <p:spPr>
          <a:xfrm>
            <a:off x="4311396" y="1371600"/>
            <a:ext cx="3566160" cy="2926080"/>
          </a:xfrm>
          <a:prstGeom prst="roundRect">
            <a:avLst>
              <a:gd name="adj" fmla="val 3750"/>
            </a:avLst>
          </a:prstGeom>
          <a:solidFill>
            <a:schemeClr val="tx2"/>
          </a:solidFill>
          <a:ln/>
        </p:spPr>
      </p:sp>
      <p:sp>
        <p:nvSpPr>
          <p:cNvPr id="8" name="Text 5"/>
          <p:cNvSpPr txBox="1"/>
          <p:nvPr/>
        </p:nvSpPr>
        <p:spPr>
          <a:xfrm>
            <a:off x="4539996" y="1481328"/>
            <a:ext cx="3108960" cy="274320"/>
          </a:xfrm>
          <a:prstGeom prst="rect">
            <a:avLst/>
          </a:prstGeom>
          <a:noFill/>
          <a:ln/>
        </p:spPr>
        <p:txBody>
          <a:bodyPr wrap="square" lIns="0" tIns="0" rIns="0" bIns="0" rtlCol="0" anchor="t"/>
          <a:lstStyle/>
          <a:p>
            <a:pPr marL="0" indent="0">
              <a:buNone/>
            </a:pPr>
            <a:r>
              <a:rPr lang="en-US" sz="1300" b="1" dirty="0">
                <a:solidFill>
                  <a:schemeClr val="bg2"/>
                </a:solidFill>
              </a:rPr>
              <a:t>Answered within SLA (%)</a:t>
            </a:r>
            <a:endParaRPr lang="en-US" sz="1300" dirty="0"/>
          </a:p>
        </p:txBody>
      </p:sp>
      <p:sp>
        <p:nvSpPr>
          <p:cNvPr id="9" name="Text 6"/>
          <p:cNvSpPr txBox="1"/>
          <p:nvPr/>
        </p:nvSpPr>
        <p:spPr>
          <a:xfrm>
            <a:off x="4539996" y="1783080"/>
            <a:ext cx="3108960" cy="457200"/>
          </a:xfrm>
          <a:prstGeom prst="rect">
            <a:avLst/>
          </a:prstGeom>
          <a:noFill/>
          <a:ln/>
        </p:spPr>
        <p:txBody>
          <a:bodyPr wrap="square" lIns="0" tIns="0" rIns="0" bIns="0" rtlCol="0" anchor="ctr"/>
          <a:lstStyle/>
          <a:p>
            <a:pPr marL="0" indent="0">
              <a:buNone/>
            </a:pPr>
            <a:r>
              <a:rPr lang="en-US" sz="2600" b="1" dirty="0">
                <a:solidFill>
                  <a:schemeClr val="accent1"/>
                </a:solidFill>
                <a:latin typeface="Cambria" pitchFamily="34" charset="0"/>
                <a:ea typeface="Cambria" pitchFamily="34" charset="-122"/>
                <a:cs typeface="Cambria" pitchFamily="34" charset="-120"/>
              </a:rPr>
              <a:t>65% → 91%</a:t>
            </a:r>
            <a:endParaRPr lang="en-US" sz="2600" dirty="0"/>
          </a:p>
        </p:txBody>
      </p:sp>
      <p:graphicFrame>
        <p:nvGraphicFramePr>
          <p:cNvPr id="10" name="Chart 1"/>
          <p:cNvGraphicFramePr/>
          <p:nvPr/>
        </p:nvGraphicFramePr>
        <p:xfrm>
          <a:off x="4375404" y="2286000"/>
          <a:ext cx="3429000" cy="1828800"/>
        </p:xfrm>
        <a:graphic>
          <a:graphicData uri="http://schemas.openxmlformats.org/drawingml/2006/chart">
            <c:chart xmlns:c="http://schemas.openxmlformats.org/drawingml/2006/chart" xmlns:r="http://schemas.openxmlformats.org/officeDocument/2006/relationships" r:id="rId4"/>
          </a:graphicData>
        </a:graphic>
      </p:graphicFrame>
      <p:sp>
        <p:nvSpPr>
          <p:cNvPr id="11" name="Detection card"/>
          <p:cNvSpPr/>
          <p:nvPr/>
        </p:nvSpPr>
        <p:spPr>
          <a:xfrm>
            <a:off x="8074152" y="1371600"/>
            <a:ext cx="3566160" cy="2926080"/>
          </a:xfrm>
          <a:prstGeom prst="roundRect">
            <a:avLst>
              <a:gd name="adj" fmla="val 3750"/>
            </a:avLst>
          </a:prstGeom>
          <a:solidFill>
            <a:schemeClr val="tx2"/>
          </a:solidFill>
          <a:ln/>
        </p:spPr>
      </p:sp>
      <p:sp>
        <p:nvSpPr>
          <p:cNvPr id="12" name="Text 8"/>
          <p:cNvSpPr txBox="1"/>
          <p:nvPr/>
        </p:nvSpPr>
        <p:spPr>
          <a:xfrm>
            <a:off x="8302752" y="1481328"/>
            <a:ext cx="3108960" cy="274320"/>
          </a:xfrm>
          <a:prstGeom prst="rect">
            <a:avLst/>
          </a:prstGeom>
          <a:noFill/>
          <a:ln/>
        </p:spPr>
        <p:txBody>
          <a:bodyPr wrap="square" lIns="0" tIns="0" rIns="0" bIns="0" rtlCol="0" anchor="t"/>
          <a:lstStyle/>
          <a:p>
            <a:pPr marL="0" indent="0">
              <a:buNone/>
            </a:pPr>
            <a:r>
              <a:rPr lang="en-US" sz="1300" b="1" dirty="0">
                <a:solidFill>
                  <a:schemeClr val="bg2"/>
                </a:solidFill>
              </a:rPr>
              <a:t>Share by detection source (%)</a:t>
            </a:r>
            <a:endParaRPr lang="en-US" sz="1300" dirty="0"/>
          </a:p>
        </p:txBody>
      </p:sp>
      <p:sp>
        <p:nvSpPr>
          <p:cNvPr id="13" name="Text 9"/>
          <p:cNvSpPr txBox="1"/>
          <p:nvPr/>
        </p:nvSpPr>
        <p:spPr>
          <a:xfrm>
            <a:off x="8302752" y="1783080"/>
            <a:ext cx="3108960" cy="457200"/>
          </a:xfrm>
          <a:prstGeom prst="rect">
            <a:avLst/>
          </a:prstGeom>
          <a:noFill/>
          <a:ln/>
        </p:spPr>
        <p:txBody>
          <a:bodyPr wrap="square" lIns="0" tIns="0" rIns="0" bIns="0" rtlCol="0" anchor="ctr"/>
          <a:lstStyle/>
          <a:p>
            <a:pPr marL="0" indent="0">
              <a:buNone/>
            </a:pPr>
            <a:r>
              <a:rPr lang="en-US" sz="2600" b="1" dirty="0">
                <a:solidFill>
                  <a:schemeClr val="accent3"/>
                </a:solidFill>
                <a:latin typeface="Cambria" pitchFamily="34" charset="0"/>
                <a:ea typeface="Cambria" pitchFamily="34" charset="-122"/>
                <a:cs typeface="Cambria" pitchFamily="34" charset="-120"/>
              </a:rPr>
              <a:t>54% SIEM + EDR</a:t>
            </a:r>
            <a:endParaRPr lang="en-US" sz="2600" dirty="0"/>
          </a:p>
        </p:txBody>
      </p:sp>
      <p:graphicFrame>
        <p:nvGraphicFramePr>
          <p:cNvPr id="14" name="Chart 2"/>
          <p:cNvGraphicFramePr/>
          <p:nvPr/>
        </p:nvGraphicFramePr>
        <p:xfrm>
          <a:off x="8138160" y="2240280"/>
          <a:ext cx="3429000" cy="2011680"/>
        </p:xfrm>
        <a:graphic>
          <a:graphicData uri="http://schemas.openxmlformats.org/drawingml/2006/chart">
            <c:chart xmlns:c="http://schemas.openxmlformats.org/drawingml/2006/chart" xmlns:r="http://schemas.openxmlformats.org/officeDocument/2006/relationships" r:id="rId5"/>
          </a:graphicData>
        </a:graphic>
      </p:graphicFrame>
      <p:sp>
        <p:nvSpPr>
          <p:cNvPr id="15" name="Funnel card"/>
          <p:cNvSpPr/>
          <p:nvPr/>
        </p:nvSpPr>
        <p:spPr>
          <a:xfrm>
            <a:off x="548640" y="4526280"/>
            <a:ext cx="11091672" cy="1691640"/>
          </a:xfrm>
          <a:prstGeom prst="roundRect">
            <a:avLst>
              <a:gd name="adj" fmla="val 6486"/>
            </a:avLst>
          </a:prstGeom>
          <a:solidFill>
            <a:schemeClr val="tx2"/>
          </a:solidFill>
          <a:ln/>
        </p:spPr>
      </p:sp>
      <p:sp>
        <p:nvSpPr>
          <p:cNvPr id="16" name="Text 11"/>
          <p:cNvSpPr txBox="1"/>
          <p:nvPr/>
        </p:nvSpPr>
        <p:spPr>
          <a:xfrm>
            <a:off x="822960" y="4636008"/>
            <a:ext cx="2743200" cy="274320"/>
          </a:xfrm>
          <a:prstGeom prst="rect">
            <a:avLst/>
          </a:prstGeom>
          <a:noFill/>
          <a:ln/>
        </p:spPr>
        <p:txBody>
          <a:bodyPr wrap="square" lIns="0" tIns="0" rIns="0" bIns="0" rtlCol="0" anchor="t"/>
          <a:lstStyle/>
          <a:p>
            <a:pPr marL="0" indent="0">
              <a:buNone/>
            </a:pPr>
            <a:r>
              <a:rPr lang="en-US" sz="1300" b="1" dirty="0">
                <a:solidFill>
                  <a:schemeClr val="bg2"/>
                </a:solidFill>
              </a:rPr>
              <a:t>2026 YTD response funnel</a:t>
            </a:r>
            <a:endParaRPr lang="en-US" sz="1300" dirty="0"/>
          </a:p>
        </p:txBody>
      </p:sp>
      <p:sp>
        <p:nvSpPr>
          <p:cNvPr id="17" name="Funnel step 1"/>
          <p:cNvSpPr/>
          <p:nvPr/>
        </p:nvSpPr>
        <p:spPr>
          <a:xfrm>
            <a:off x="822960" y="4956048"/>
            <a:ext cx="2514600" cy="868680"/>
          </a:xfrm>
          <a:prstGeom prst="roundRect">
            <a:avLst>
              <a:gd name="adj" fmla="val 8421"/>
            </a:avLst>
          </a:prstGeom>
          <a:solidFill>
            <a:srgbClr val="5B3AE0"/>
          </a:solidFill>
          <a:ln/>
        </p:spPr>
      </p:sp>
      <p:sp>
        <p:nvSpPr>
          <p:cNvPr id="18" name="Text 13"/>
          <p:cNvSpPr txBox="1"/>
          <p:nvPr/>
        </p:nvSpPr>
        <p:spPr>
          <a:xfrm>
            <a:off x="822960" y="4956048"/>
            <a:ext cx="2514600" cy="868680"/>
          </a:xfrm>
          <a:prstGeom prst="rect">
            <a:avLst/>
          </a:prstGeom>
          <a:noFill/>
          <a:ln/>
        </p:spPr>
        <p:txBody>
          <a:bodyPr wrap="square" lIns="0" tIns="0" rIns="0" bIns="0" rtlCol="0" anchor="ctr"/>
          <a:lstStyle/>
          <a:p>
            <a:pPr marL="0" indent="0" algn="ctr">
              <a:buNone/>
            </a:pPr>
            <a:r>
              <a:rPr lang="en-US" sz="2200" b="1" dirty="0">
                <a:solidFill>
                  <a:schemeClr val="bg1"/>
                </a:solidFill>
                <a:latin typeface="Cambria" pitchFamily="34" charset="0"/>
                <a:ea typeface="Cambria" pitchFamily="34" charset="-122"/>
                <a:cs typeface="Cambria" pitchFamily="34" charset="-120"/>
              </a:rPr>
              <a:t>12,600</a:t>
            </a:r>
            <a:endParaRPr lang="en-US" sz="2200" dirty="0"/>
          </a:p>
          <a:p>
            <a:pPr marL="0" indent="0" algn="ctr">
              <a:buNone/>
            </a:pPr>
            <a:r>
              <a:rPr lang="en-US" sz="1300" dirty="0">
                <a:solidFill>
                  <a:schemeClr val="bg1"/>
                </a:solidFill>
              </a:rPr>
              <a:t>Detected  100%</a:t>
            </a:r>
            <a:endParaRPr lang="en-US" sz="2200" dirty="0"/>
          </a:p>
        </p:txBody>
      </p:sp>
      <p:sp>
        <p:nvSpPr>
          <p:cNvPr id="19" name="Funnel step 2"/>
          <p:cNvSpPr/>
          <p:nvPr/>
        </p:nvSpPr>
        <p:spPr>
          <a:xfrm>
            <a:off x="3520440" y="4956048"/>
            <a:ext cx="2514600" cy="868680"/>
          </a:xfrm>
          <a:prstGeom prst="roundRect">
            <a:avLst>
              <a:gd name="adj" fmla="val 8421"/>
            </a:avLst>
          </a:prstGeom>
          <a:solidFill>
            <a:srgbClr val="7B2FD0"/>
          </a:solidFill>
          <a:ln/>
        </p:spPr>
      </p:sp>
      <p:sp>
        <p:nvSpPr>
          <p:cNvPr id="20" name="Text 15"/>
          <p:cNvSpPr txBox="1"/>
          <p:nvPr/>
        </p:nvSpPr>
        <p:spPr>
          <a:xfrm>
            <a:off x="3520440" y="4956048"/>
            <a:ext cx="2514600" cy="868680"/>
          </a:xfrm>
          <a:prstGeom prst="rect">
            <a:avLst/>
          </a:prstGeom>
          <a:noFill/>
          <a:ln/>
        </p:spPr>
        <p:txBody>
          <a:bodyPr wrap="square" lIns="0" tIns="0" rIns="0" bIns="0" rtlCol="0" anchor="ctr"/>
          <a:lstStyle/>
          <a:p>
            <a:pPr marL="0" indent="0" algn="ctr">
              <a:buNone/>
            </a:pPr>
            <a:r>
              <a:rPr lang="en-US" sz="2200" b="1" dirty="0">
                <a:solidFill>
                  <a:schemeClr val="bg1"/>
                </a:solidFill>
                <a:latin typeface="Cambria" pitchFamily="34" charset="0"/>
                <a:ea typeface="Cambria" pitchFamily="34" charset="-122"/>
                <a:cs typeface="Cambria" pitchFamily="34" charset="-120"/>
              </a:rPr>
              <a:t>12,421</a:t>
            </a:r>
            <a:endParaRPr lang="en-US" sz="2200" dirty="0"/>
          </a:p>
          <a:p>
            <a:pPr marL="0" indent="0" algn="ctr">
              <a:buNone/>
            </a:pPr>
            <a:r>
              <a:rPr lang="en-US" sz="1300" dirty="0">
                <a:solidFill>
                  <a:schemeClr val="bg1"/>
                </a:solidFill>
              </a:rPr>
              <a:t>Triaged  98.6%</a:t>
            </a:r>
            <a:endParaRPr lang="en-US" sz="2200" dirty="0"/>
          </a:p>
        </p:txBody>
      </p:sp>
      <p:sp>
        <p:nvSpPr>
          <p:cNvPr id="21" name="Funnel step 3"/>
          <p:cNvSpPr/>
          <p:nvPr/>
        </p:nvSpPr>
        <p:spPr>
          <a:xfrm>
            <a:off x="6217920" y="4956048"/>
            <a:ext cx="2514600" cy="868680"/>
          </a:xfrm>
          <a:prstGeom prst="roundRect">
            <a:avLst>
              <a:gd name="adj" fmla="val 8421"/>
            </a:avLst>
          </a:prstGeom>
          <a:solidFill>
            <a:srgbClr val="A624B8"/>
          </a:solidFill>
          <a:ln/>
        </p:spPr>
      </p:sp>
      <p:sp>
        <p:nvSpPr>
          <p:cNvPr id="22" name="Text 17"/>
          <p:cNvSpPr txBox="1"/>
          <p:nvPr/>
        </p:nvSpPr>
        <p:spPr>
          <a:xfrm>
            <a:off x="6217920" y="4956048"/>
            <a:ext cx="2514600" cy="868680"/>
          </a:xfrm>
          <a:prstGeom prst="rect">
            <a:avLst/>
          </a:prstGeom>
          <a:noFill/>
          <a:ln/>
        </p:spPr>
        <p:txBody>
          <a:bodyPr wrap="square" lIns="0" tIns="0" rIns="0" bIns="0" rtlCol="0" anchor="ctr"/>
          <a:lstStyle/>
          <a:p>
            <a:pPr marL="0" indent="0" algn="ctr">
              <a:buNone/>
            </a:pPr>
            <a:r>
              <a:rPr lang="en-US" sz="2200" b="1" dirty="0">
                <a:solidFill>
                  <a:schemeClr val="bg1"/>
                </a:solidFill>
                <a:latin typeface="Cambria" pitchFamily="34" charset="0"/>
                <a:ea typeface="Cambria" pitchFamily="34" charset="-122"/>
                <a:cs typeface="Cambria" pitchFamily="34" charset="-120"/>
              </a:rPr>
              <a:t>11,979</a:t>
            </a:r>
            <a:endParaRPr lang="en-US" sz="2200" dirty="0"/>
          </a:p>
          <a:p>
            <a:pPr marL="0" indent="0" algn="ctr">
              <a:buNone/>
            </a:pPr>
            <a:r>
              <a:rPr lang="en-US" sz="1300" dirty="0">
                <a:solidFill>
                  <a:schemeClr val="bg1"/>
                </a:solidFill>
              </a:rPr>
              <a:t>Contained  95.1%</a:t>
            </a:r>
            <a:endParaRPr lang="en-US" sz="2200" dirty="0"/>
          </a:p>
        </p:txBody>
      </p:sp>
      <p:sp>
        <p:nvSpPr>
          <p:cNvPr id="23" name="Funnel step 4"/>
          <p:cNvSpPr/>
          <p:nvPr/>
        </p:nvSpPr>
        <p:spPr>
          <a:xfrm>
            <a:off x="8915400" y="4956048"/>
            <a:ext cx="2514600" cy="868680"/>
          </a:xfrm>
          <a:prstGeom prst="roundRect">
            <a:avLst>
              <a:gd name="adj" fmla="val 8421"/>
            </a:avLst>
          </a:prstGeom>
          <a:solidFill>
            <a:srgbClr val="D0176F"/>
          </a:solidFill>
          <a:ln/>
        </p:spPr>
      </p:sp>
      <p:sp>
        <p:nvSpPr>
          <p:cNvPr id="24" name="Text 19"/>
          <p:cNvSpPr txBox="1"/>
          <p:nvPr/>
        </p:nvSpPr>
        <p:spPr>
          <a:xfrm>
            <a:off x="8915400" y="4956048"/>
            <a:ext cx="2514600" cy="868680"/>
          </a:xfrm>
          <a:prstGeom prst="rect">
            <a:avLst/>
          </a:prstGeom>
          <a:noFill/>
          <a:ln/>
        </p:spPr>
        <p:txBody>
          <a:bodyPr wrap="square" lIns="0" tIns="0" rIns="0" bIns="0" rtlCol="0" anchor="ctr"/>
          <a:lstStyle/>
          <a:p>
            <a:pPr marL="0" indent="0" algn="ctr">
              <a:buNone/>
            </a:pPr>
            <a:r>
              <a:rPr lang="en-US" sz="2200" b="1" dirty="0">
                <a:solidFill>
                  <a:schemeClr val="bg1"/>
                </a:solidFill>
                <a:latin typeface="Cambria" pitchFamily="34" charset="0"/>
                <a:ea typeface="Cambria" pitchFamily="34" charset="-122"/>
                <a:cs typeface="Cambria" pitchFamily="34" charset="-120"/>
              </a:rPr>
              <a:t>11,367</a:t>
            </a:r>
            <a:endParaRPr lang="en-US" sz="2200" dirty="0"/>
          </a:p>
          <a:p>
            <a:pPr marL="0" indent="0" algn="ctr">
              <a:buNone/>
            </a:pPr>
            <a:r>
              <a:rPr lang="en-US" sz="1300" dirty="0">
                <a:solidFill>
                  <a:schemeClr val="bg1"/>
                </a:solidFill>
              </a:rPr>
              <a:t>Mitigated  90.2%</a:t>
            </a:r>
            <a:endParaRPr lang="en-US" sz="2200" dirty="0"/>
          </a:p>
        </p:txBody>
      </p:sp>
      <p:sp>
        <p:nvSpPr>
          <p:cNvPr id="25" name="Text 20"/>
          <p:cNvSpPr txBox="1"/>
          <p:nvPr/>
        </p:nvSpPr>
        <p:spPr>
          <a:xfrm>
            <a:off x="822960" y="5897880"/>
            <a:ext cx="10515600" cy="256032"/>
          </a:xfrm>
          <a:prstGeom prst="rect">
            <a:avLst/>
          </a:prstGeom>
          <a:noFill/>
          <a:ln/>
        </p:spPr>
        <p:txBody>
          <a:bodyPr wrap="square" lIns="0" tIns="0" rIns="0" bIns="0" rtlCol="0" anchor="t"/>
          <a:lstStyle/>
          <a:p>
            <a:pPr marL="0" indent="0">
              <a:buNone/>
            </a:pPr>
            <a:r>
              <a:rPr lang="en-US" sz="1200" dirty="0">
                <a:solidFill>
                  <a:schemeClr val="bg2"/>
                </a:solidFill>
              </a:rPr>
              <a:t>Average detection time 34 min  |  SLA met 91.1%  |  SLA targets: Critical 60 min, High 120, Medium 240, Low 480</a:t>
            </a:r>
            <a:endParaRPr lang="en-US" sz="1200" dirty="0"/>
          </a:p>
        </p:txBody>
      </p:sp>
      <p:sp>
        <p:nvSpPr>
          <p:cNvPr id="26"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6</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200" b="1" dirty="0">
                <a:solidFill>
                  <a:schemeClr val="bg1"/>
                </a:solidFill>
              </a:rPr>
              <a:t>What to do next</a:t>
            </a:r>
            <a:endParaRPr lang="en-US" sz="3200" dirty="0"/>
          </a:p>
        </p:txBody>
      </p:sp>
      <p:sp>
        <p:nvSpPr>
          <p:cNvPr id="3" name="Recommendation card 1"/>
          <p:cNvSpPr/>
          <p:nvPr/>
        </p:nvSpPr>
        <p:spPr>
          <a:xfrm>
            <a:off x="548640" y="1371600"/>
            <a:ext cx="2679192" cy="3291840"/>
          </a:xfrm>
          <a:prstGeom prst="roundRect">
            <a:avLst>
              <a:gd name="adj" fmla="val 4096"/>
            </a:avLst>
          </a:prstGeom>
          <a:solidFill>
            <a:schemeClr val="tx2"/>
          </a:solidFill>
          <a:ln/>
        </p:spPr>
      </p:sp>
      <p:sp>
        <p:nvSpPr>
          <p:cNvPr id="4" name="Icon circle FaLock"/>
          <p:cNvSpPr/>
          <p:nvPr/>
        </p:nvSpPr>
        <p:spPr>
          <a:xfrm>
            <a:off x="777240" y="1600200"/>
            <a:ext cx="640080" cy="640080"/>
          </a:xfrm>
          <a:prstGeom prst="ellipse">
            <a:avLst/>
          </a:prstGeom>
          <a:solidFill>
            <a:srgbClr val="EC1F8C"/>
          </a:solidFill>
          <a:ln/>
        </p:spPr>
      </p:sp>
      <p:pic>
        <p:nvPicPr>
          <p:cNvPr id="5" name="Image 0" descr="Lock icon"/>
          <p:cNvPicPr>
            <a:picLocks noChangeAspect="1"/>
          </p:cNvPicPr>
          <p:nvPr/>
        </p:nvPicPr>
        <p:blipFill>
          <a:blip r:embed="rId3"/>
          <a:stretch>
            <a:fillRect/>
          </a:stretch>
        </p:blipFill>
        <p:spPr>
          <a:xfrm>
            <a:off x="950062" y="1773022"/>
            <a:ext cx="294437" cy="294437"/>
          </a:xfrm>
          <a:prstGeom prst="rect">
            <a:avLst/>
          </a:prstGeom>
        </p:spPr>
      </p:pic>
      <p:sp>
        <p:nvSpPr>
          <p:cNvPr id="6" name="Text 3"/>
          <p:cNvSpPr txBox="1"/>
          <p:nvPr/>
        </p:nvSpPr>
        <p:spPr>
          <a:xfrm>
            <a:off x="777240" y="2423160"/>
            <a:ext cx="2240280" cy="594360"/>
          </a:xfrm>
          <a:prstGeom prst="rect">
            <a:avLst/>
          </a:prstGeom>
          <a:noFill/>
          <a:ln/>
        </p:spPr>
        <p:txBody>
          <a:bodyPr wrap="square" lIns="0" tIns="0" rIns="0" bIns="0" rtlCol="0" anchor="t"/>
          <a:lstStyle/>
          <a:p>
            <a:pPr marL="0" indent="0">
              <a:buNone/>
            </a:pPr>
            <a:r>
              <a:rPr lang="en-US" sz="1800" b="1" dirty="0">
                <a:solidFill>
                  <a:schemeClr val="bg1"/>
                </a:solidFill>
                <a:latin typeface="Cambria" pitchFamily="34" charset="0"/>
                <a:ea typeface="Cambria" pitchFamily="34" charset="-122"/>
                <a:cs typeface="Cambria" pitchFamily="34" charset="-120"/>
              </a:rPr>
              <a:t>Ransomware readiness</a:t>
            </a:r>
            <a:endParaRPr lang="en-US" sz="1800" dirty="0"/>
          </a:p>
        </p:txBody>
      </p:sp>
      <p:sp>
        <p:nvSpPr>
          <p:cNvPr id="7" name="Text 4"/>
          <p:cNvSpPr txBox="1"/>
          <p:nvPr/>
        </p:nvSpPr>
        <p:spPr>
          <a:xfrm>
            <a:off x="777240" y="3063240"/>
            <a:ext cx="2240280" cy="914400"/>
          </a:xfrm>
          <a:prstGeom prst="rect">
            <a:avLst/>
          </a:prstGeom>
          <a:noFill/>
          <a:ln/>
        </p:spPr>
        <p:txBody>
          <a:bodyPr wrap="square" lIns="0" tIns="0" rIns="0" bIns="0" rtlCol="0" anchor="t"/>
          <a:lstStyle/>
          <a:p>
            <a:pPr marL="0" indent="0">
              <a:buNone/>
            </a:pPr>
            <a:r>
              <a:rPr lang="en-US" sz="1400" dirty="0">
                <a:solidFill>
                  <a:schemeClr val="bg1"/>
                </a:solidFill>
              </a:rPr>
              <a:t>Tested offline backups, EDR coverage and an incident playbook.</a:t>
            </a:r>
            <a:endParaRPr lang="en-US" sz="1400" dirty="0"/>
          </a:p>
        </p:txBody>
      </p:sp>
      <p:sp>
        <p:nvSpPr>
          <p:cNvPr id="8" name="Text 5"/>
          <p:cNvSpPr txBox="1"/>
          <p:nvPr/>
        </p:nvSpPr>
        <p:spPr>
          <a:xfrm>
            <a:off x="777240" y="4069080"/>
            <a:ext cx="2240280" cy="457200"/>
          </a:xfrm>
          <a:prstGeom prst="rect">
            <a:avLst/>
          </a:prstGeom>
          <a:noFill/>
          <a:ln/>
        </p:spPr>
        <p:txBody>
          <a:bodyPr wrap="square" lIns="0" tIns="0" rIns="0" bIns="0" rtlCol="0" anchor="t"/>
          <a:lstStyle/>
          <a:p>
            <a:pPr marL="0" indent="0">
              <a:buNone/>
            </a:pPr>
            <a:r>
              <a:rPr lang="en-US" sz="1100" b="1" kern="0" spc="100" dirty="0">
                <a:solidFill>
                  <a:schemeClr val="accent3"/>
                </a:solidFill>
              </a:rPr>
              <a:t>64% OF TOTAL IMPACT</a:t>
            </a:r>
            <a:endParaRPr lang="en-US" sz="1100" dirty="0"/>
          </a:p>
        </p:txBody>
      </p:sp>
      <p:sp>
        <p:nvSpPr>
          <p:cNvPr id="9" name="Recommendation card 2"/>
          <p:cNvSpPr/>
          <p:nvPr/>
        </p:nvSpPr>
        <p:spPr>
          <a:xfrm>
            <a:off x="3383280" y="1371600"/>
            <a:ext cx="2679192" cy="3291840"/>
          </a:xfrm>
          <a:prstGeom prst="roundRect">
            <a:avLst>
              <a:gd name="adj" fmla="val 4096"/>
            </a:avLst>
          </a:prstGeom>
          <a:solidFill>
            <a:schemeClr val="tx2"/>
          </a:solidFill>
          <a:ln/>
        </p:spPr>
      </p:sp>
      <p:sp>
        <p:nvSpPr>
          <p:cNvPr id="10" name="Icon circle FaUsers"/>
          <p:cNvSpPr/>
          <p:nvPr/>
        </p:nvSpPr>
        <p:spPr>
          <a:xfrm>
            <a:off x="3611880" y="1600200"/>
            <a:ext cx="640080" cy="640080"/>
          </a:xfrm>
          <a:prstGeom prst="ellipse">
            <a:avLst/>
          </a:prstGeom>
          <a:solidFill>
            <a:srgbClr val="5B3AE0"/>
          </a:solidFill>
          <a:ln/>
        </p:spPr>
      </p:sp>
      <p:pic>
        <p:nvPicPr>
          <p:cNvPr id="11" name="Image 1" descr="Users icon"/>
          <p:cNvPicPr>
            <a:picLocks noChangeAspect="1"/>
          </p:cNvPicPr>
          <p:nvPr/>
        </p:nvPicPr>
        <p:blipFill>
          <a:blip r:embed="rId4"/>
          <a:stretch>
            <a:fillRect/>
          </a:stretch>
        </p:blipFill>
        <p:spPr>
          <a:xfrm>
            <a:off x="3784702" y="1773022"/>
            <a:ext cx="294437" cy="294437"/>
          </a:xfrm>
          <a:prstGeom prst="rect">
            <a:avLst/>
          </a:prstGeom>
        </p:spPr>
      </p:pic>
      <p:sp>
        <p:nvSpPr>
          <p:cNvPr id="12" name="Text 8"/>
          <p:cNvSpPr txBox="1"/>
          <p:nvPr/>
        </p:nvSpPr>
        <p:spPr>
          <a:xfrm>
            <a:off x="3611880" y="2423160"/>
            <a:ext cx="2240280" cy="594360"/>
          </a:xfrm>
          <a:prstGeom prst="rect">
            <a:avLst/>
          </a:prstGeom>
          <a:noFill/>
          <a:ln/>
        </p:spPr>
        <p:txBody>
          <a:bodyPr wrap="square" lIns="0" tIns="0" rIns="0" bIns="0" rtlCol="0" anchor="t"/>
          <a:lstStyle/>
          <a:p>
            <a:pPr marL="0" indent="0">
              <a:buNone/>
            </a:pPr>
            <a:r>
              <a:rPr lang="en-US" sz="1800" b="1" dirty="0">
                <a:solidFill>
                  <a:schemeClr val="bg1"/>
                </a:solidFill>
                <a:latin typeface="Cambria" pitchFamily="34" charset="0"/>
                <a:ea typeface="Cambria" pitchFamily="34" charset="-122"/>
                <a:cs typeface="Cambria" pitchFamily="34" charset="-120"/>
              </a:rPr>
              <a:t>Staff for the peak</a:t>
            </a:r>
            <a:endParaRPr lang="en-US" sz="1800" dirty="0"/>
          </a:p>
        </p:txBody>
      </p:sp>
      <p:sp>
        <p:nvSpPr>
          <p:cNvPr id="13" name="Text 9"/>
          <p:cNvSpPr txBox="1"/>
          <p:nvPr/>
        </p:nvSpPr>
        <p:spPr>
          <a:xfrm>
            <a:off x="3611880" y="3063240"/>
            <a:ext cx="2240280" cy="914400"/>
          </a:xfrm>
          <a:prstGeom prst="rect">
            <a:avLst/>
          </a:prstGeom>
          <a:noFill/>
          <a:ln/>
        </p:spPr>
        <p:txBody>
          <a:bodyPr wrap="square" lIns="0" tIns="0" rIns="0" bIns="0" rtlCol="0" anchor="t"/>
          <a:lstStyle/>
          <a:p>
            <a:pPr marL="0" indent="0">
              <a:buNone/>
            </a:pPr>
            <a:r>
              <a:rPr lang="en-US" sz="1400" dirty="0">
                <a:solidFill>
                  <a:schemeClr val="bg1"/>
                </a:solidFill>
              </a:rPr>
              <a:t>Add analysts or SOAR automation before the autumn peak.</a:t>
            </a:r>
            <a:endParaRPr lang="en-US" sz="1400" dirty="0"/>
          </a:p>
        </p:txBody>
      </p:sp>
      <p:sp>
        <p:nvSpPr>
          <p:cNvPr id="14" name="Text 10"/>
          <p:cNvSpPr txBox="1"/>
          <p:nvPr/>
        </p:nvSpPr>
        <p:spPr>
          <a:xfrm>
            <a:off x="3611880" y="4069080"/>
            <a:ext cx="2240280" cy="457200"/>
          </a:xfrm>
          <a:prstGeom prst="rect">
            <a:avLst/>
          </a:prstGeom>
          <a:noFill/>
          <a:ln/>
        </p:spPr>
        <p:txBody>
          <a:bodyPr wrap="square" lIns="0" tIns="0" rIns="0" bIns="0" rtlCol="0" anchor="t"/>
          <a:lstStyle/>
          <a:p>
            <a:pPr marL="0" indent="0">
              <a:buNone/>
            </a:pPr>
            <a:r>
              <a:rPr lang="en-US" sz="1100" b="1" kern="0" spc="100" dirty="0">
                <a:solidFill>
                  <a:schemeClr val="accent3"/>
                </a:solidFill>
              </a:rPr>
              <a:t>DECEMBER RUNS 14% ABOVE AVERAGE</a:t>
            </a:r>
            <a:endParaRPr lang="en-US" sz="1100" dirty="0"/>
          </a:p>
        </p:txBody>
      </p:sp>
      <p:sp>
        <p:nvSpPr>
          <p:cNvPr id="15" name="Recommendation card 3"/>
          <p:cNvSpPr/>
          <p:nvPr/>
        </p:nvSpPr>
        <p:spPr>
          <a:xfrm>
            <a:off x="6217920" y="1371600"/>
            <a:ext cx="2679192" cy="3291840"/>
          </a:xfrm>
          <a:prstGeom prst="roundRect">
            <a:avLst>
              <a:gd name="adj" fmla="val 4096"/>
            </a:avLst>
          </a:prstGeom>
          <a:solidFill>
            <a:schemeClr val="tx2"/>
          </a:solidFill>
          <a:ln/>
        </p:spPr>
      </p:sp>
      <p:sp>
        <p:nvSpPr>
          <p:cNvPr id="16" name="Icon circle FaTasks"/>
          <p:cNvSpPr/>
          <p:nvPr/>
        </p:nvSpPr>
        <p:spPr>
          <a:xfrm>
            <a:off x="6446520" y="1600200"/>
            <a:ext cx="640080" cy="640080"/>
          </a:xfrm>
          <a:prstGeom prst="ellipse">
            <a:avLst/>
          </a:prstGeom>
          <a:solidFill>
            <a:srgbClr val="34D3A0"/>
          </a:solidFill>
          <a:ln/>
        </p:spPr>
      </p:sp>
      <p:pic>
        <p:nvPicPr>
          <p:cNvPr id="17" name="Image 2" descr="Tasks icon"/>
          <p:cNvPicPr>
            <a:picLocks noChangeAspect="1"/>
          </p:cNvPicPr>
          <p:nvPr/>
        </p:nvPicPr>
        <p:blipFill>
          <a:blip r:embed="rId5"/>
          <a:stretch>
            <a:fillRect/>
          </a:stretch>
        </p:blipFill>
        <p:spPr>
          <a:xfrm>
            <a:off x="6619342" y="1773022"/>
            <a:ext cx="294437" cy="294437"/>
          </a:xfrm>
          <a:prstGeom prst="rect">
            <a:avLst/>
          </a:prstGeom>
        </p:spPr>
      </p:pic>
      <p:sp>
        <p:nvSpPr>
          <p:cNvPr id="18" name="Text 13"/>
          <p:cNvSpPr txBox="1"/>
          <p:nvPr/>
        </p:nvSpPr>
        <p:spPr>
          <a:xfrm>
            <a:off x="6446520" y="2423160"/>
            <a:ext cx="2240280" cy="594360"/>
          </a:xfrm>
          <a:prstGeom prst="rect">
            <a:avLst/>
          </a:prstGeom>
          <a:noFill/>
          <a:ln/>
        </p:spPr>
        <p:txBody>
          <a:bodyPr wrap="square" lIns="0" tIns="0" rIns="0" bIns="0" rtlCol="0" anchor="t"/>
          <a:lstStyle/>
          <a:p>
            <a:pPr marL="0" indent="0">
              <a:buNone/>
            </a:pPr>
            <a:r>
              <a:rPr lang="en-US" sz="1800" b="1" dirty="0">
                <a:solidFill>
                  <a:schemeClr val="bg1"/>
                </a:solidFill>
                <a:latin typeface="Cambria" pitchFamily="34" charset="0"/>
                <a:ea typeface="Cambria" pitchFamily="34" charset="-122"/>
                <a:cs typeface="Cambria" pitchFamily="34" charset="-120"/>
              </a:rPr>
              <a:t>Close the backlog</a:t>
            </a:r>
            <a:endParaRPr lang="en-US" sz="1800" dirty="0"/>
          </a:p>
        </p:txBody>
      </p:sp>
      <p:sp>
        <p:nvSpPr>
          <p:cNvPr id="19" name="Text 14"/>
          <p:cNvSpPr txBox="1"/>
          <p:nvPr/>
        </p:nvSpPr>
        <p:spPr>
          <a:xfrm>
            <a:off x="6446520" y="3063240"/>
            <a:ext cx="2240280" cy="914400"/>
          </a:xfrm>
          <a:prstGeom prst="rect">
            <a:avLst/>
          </a:prstGeom>
          <a:noFill/>
          <a:ln/>
        </p:spPr>
        <p:txBody>
          <a:bodyPr wrap="square" lIns="0" tIns="0" rIns="0" bIns="0" rtlCol="0" anchor="t"/>
          <a:lstStyle/>
          <a:p>
            <a:pPr marL="0" indent="0">
              <a:buNone/>
            </a:pPr>
            <a:r>
              <a:rPr lang="en-US" sz="1400" dirty="0">
                <a:solidFill>
                  <a:schemeClr val="bg1"/>
                </a:solidFill>
              </a:rPr>
              <a:t>Review open Critical and High incidents every week to hold the 90% target.</a:t>
            </a:r>
            <a:endParaRPr lang="en-US" sz="1400" dirty="0"/>
          </a:p>
        </p:txBody>
      </p:sp>
      <p:sp>
        <p:nvSpPr>
          <p:cNvPr id="20" name="Text 15"/>
          <p:cNvSpPr txBox="1"/>
          <p:nvPr/>
        </p:nvSpPr>
        <p:spPr>
          <a:xfrm>
            <a:off x="6446520" y="4069080"/>
            <a:ext cx="2240280" cy="457200"/>
          </a:xfrm>
          <a:prstGeom prst="rect">
            <a:avLst/>
          </a:prstGeom>
          <a:noFill/>
          <a:ln/>
        </p:spPr>
        <p:txBody>
          <a:bodyPr wrap="square" lIns="0" tIns="0" rIns="0" bIns="0" rtlCol="0" anchor="t"/>
          <a:lstStyle/>
          <a:p>
            <a:pPr marL="0" indent="0">
              <a:buNone/>
            </a:pPr>
            <a:r>
              <a:rPr lang="en-US" sz="1100" b="1" kern="0" spc="100" dirty="0">
                <a:solidFill>
                  <a:schemeClr val="accent3"/>
                </a:solidFill>
              </a:rPr>
              <a:t>179 OPEN; 90.2% VS 90% TARGET</a:t>
            </a:r>
            <a:endParaRPr lang="en-US" sz="1100" dirty="0"/>
          </a:p>
        </p:txBody>
      </p:sp>
      <p:sp>
        <p:nvSpPr>
          <p:cNvPr id="21" name="Recommendation card 4"/>
          <p:cNvSpPr/>
          <p:nvPr/>
        </p:nvSpPr>
        <p:spPr>
          <a:xfrm>
            <a:off x="9052560" y="1371600"/>
            <a:ext cx="2679192" cy="3291840"/>
          </a:xfrm>
          <a:prstGeom prst="roundRect">
            <a:avLst>
              <a:gd name="adj" fmla="val 4096"/>
            </a:avLst>
          </a:prstGeom>
          <a:solidFill>
            <a:schemeClr val="tx2"/>
          </a:solidFill>
          <a:ln/>
        </p:spPr>
      </p:sp>
      <p:sp>
        <p:nvSpPr>
          <p:cNvPr id="22" name="Icon circle FaEnvelopeOpenText"/>
          <p:cNvSpPr/>
          <p:nvPr/>
        </p:nvSpPr>
        <p:spPr>
          <a:xfrm>
            <a:off x="9281160" y="1600200"/>
            <a:ext cx="640080" cy="640080"/>
          </a:xfrm>
          <a:prstGeom prst="ellipse">
            <a:avLst/>
          </a:prstGeom>
          <a:solidFill>
            <a:srgbClr val="4F7BFF"/>
          </a:solidFill>
          <a:ln/>
        </p:spPr>
      </p:sp>
      <p:pic>
        <p:nvPicPr>
          <p:cNvPr id="23" name="Image 3" descr="EnvelopeOpenText icon"/>
          <p:cNvPicPr>
            <a:picLocks noChangeAspect="1"/>
          </p:cNvPicPr>
          <p:nvPr/>
        </p:nvPicPr>
        <p:blipFill>
          <a:blip r:embed="rId6"/>
          <a:stretch>
            <a:fillRect/>
          </a:stretch>
        </p:blipFill>
        <p:spPr>
          <a:xfrm>
            <a:off x="9453982" y="1773022"/>
            <a:ext cx="294437" cy="294437"/>
          </a:xfrm>
          <a:prstGeom prst="rect">
            <a:avLst/>
          </a:prstGeom>
        </p:spPr>
      </p:pic>
      <p:sp>
        <p:nvSpPr>
          <p:cNvPr id="24" name="Text 18"/>
          <p:cNvSpPr txBox="1"/>
          <p:nvPr/>
        </p:nvSpPr>
        <p:spPr>
          <a:xfrm>
            <a:off x="9281160" y="2423160"/>
            <a:ext cx="2240280" cy="594360"/>
          </a:xfrm>
          <a:prstGeom prst="rect">
            <a:avLst/>
          </a:prstGeom>
          <a:noFill/>
          <a:ln/>
        </p:spPr>
        <p:txBody>
          <a:bodyPr wrap="square" lIns="0" tIns="0" rIns="0" bIns="0" rtlCol="0" anchor="t"/>
          <a:lstStyle/>
          <a:p>
            <a:pPr marL="0" indent="0">
              <a:buNone/>
            </a:pPr>
            <a:r>
              <a:rPr lang="en-US" sz="1800" b="1" dirty="0">
                <a:solidFill>
                  <a:schemeClr val="bg1"/>
                </a:solidFill>
                <a:latin typeface="Cambria" pitchFamily="34" charset="0"/>
                <a:ea typeface="Cambria" pitchFamily="34" charset="-122"/>
                <a:cs typeface="Cambria" pitchFamily="34" charset="-120"/>
              </a:rPr>
              <a:t>Keep phishing controls</a:t>
            </a:r>
            <a:endParaRPr lang="en-US" sz="1800" dirty="0"/>
          </a:p>
        </p:txBody>
      </p:sp>
      <p:sp>
        <p:nvSpPr>
          <p:cNvPr id="25" name="Text 19"/>
          <p:cNvSpPr txBox="1"/>
          <p:nvPr/>
        </p:nvSpPr>
        <p:spPr>
          <a:xfrm>
            <a:off x="9281160" y="3063240"/>
            <a:ext cx="2240280" cy="914400"/>
          </a:xfrm>
          <a:prstGeom prst="rect">
            <a:avLst/>
          </a:prstGeom>
          <a:noFill/>
          <a:ln/>
        </p:spPr>
        <p:txBody>
          <a:bodyPr wrap="square" lIns="0" tIns="0" rIns="0" bIns="0" rtlCol="0" anchor="t"/>
          <a:lstStyle/>
          <a:p>
            <a:pPr marL="0" indent="0">
              <a:buNone/>
            </a:pPr>
            <a:r>
              <a:rPr lang="en-US" sz="1400" dirty="0">
                <a:solidFill>
                  <a:schemeClr val="bg1"/>
                </a:solidFill>
              </a:rPr>
              <a:t>Awareness training and email filtering still pay off.</a:t>
            </a:r>
            <a:endParaRPr lang="en-US" sz="1400" dirty="0"/>
          </a:p>
        </p:txBody>
      </p:sp>
      <p:sp>
        <p:nvSpPr>
          <p:cNvPr id="26" name="Text 20"/>
          <p:cNvSpPr txBox="1"/>
          <p:nvPr/>
        </p:nvSpPr>
        <p:spPr>
          <a:xfrm>
            <a:off x="9281160" y="4069080"/>
            <a:ext cx="2240280" cy="457200"/>
          </a:xfrm>
          <a:prstGeom prst="rect">
            <a:avLst/>
          </a:prstGeom>
          <a:noFill/>
          <a:ln/>
        </p:spPr>
        <p:txBody>
          <a:bodyPr wrap="square" lIns="0" tIns="0" rIns="0" bIns="0" rtlCol="0" anchor="t"/>
          <a:lstStyle/>
          <a:p>
            <a:pPr marL="0" indent="0">
              <a:buNone/>
            </a:pPr>
            <a:r>
              <a:rPr lang="en-US" sz="1100" b="1" kern="0" spc="100" dirty="0">
                <a:solidFill>
                  <a:schemeClr val="accent3"/>
                </a:solidFill>
              </a:rPr>
              <a:t>26% OF 2026 YTD INCIDENTS</a:t>
            </a:r>
            <a:endParaRPr lang="en-US" sz="1100" dirty="0"/>
          </a:p>
        </p:txBody>
      </p:sp>
      <p:sp>
        <p:nvSpPr>
          <p:cNvPr id="27" name="Closing band"/>
          <p:cNvSpPr/>
          <p:nvPr/>
        </p:nvSpPr>
        <p:spPr>
          <a:xfrm>
            <a:off x="548640" y="4846320"/>
            <a:ext cx="11091672" cy="1371600"/>
          </a:xfrm>
          <a:prstGeom prst="roundRect">
            <a:avLst>
              <a:gd name="adj" fmla="val 8000"/>
            </a:avLst>
          </a:prstGeom>
          <a:solidFill>
            <a:schemeClr val="tx2"/>
          </a:solidFill>
          <a:ln/>
        </p:spPr>
      </p:sp>
      <p:sp>
        <p:nvSpPr>
          <p:cNvPr id="28" name="Text 22"/>
          <p:cNvSpPr txBox="1"/>
          <p:nvPr/>
        </p:nvSpPr>
        <p:spPr>
          <a:xfrm>
            <a:off x="822960" y="4956048"/>
            <a:ext cx="6309360" cy="822960"/>
          </a:xfrm>
          <a:prstGeom prst="rect">
            <a:avLst/>
          </a:prstGeom>
          <a:noFill/>
          <a:ln/>
        </p:spPr>
        <p:txBody>
          <a:bodyPr wrap="square" lIns="0" tIns="0" rIns="0" bIns="0" rtlCol="0" anchor="ctr"/>
          <a:lstStyle/>
          <a:p>
            <a:pPr marL="0" indent="0">
              <a:buNone/>
            </a:pPr>
            <a:r>
              <a:rPr lang="en-US" sz="2200" b="1" dirty="0">
                <a:solidFill>
                  <a:schemeClr val="bg1"/>
                </a:solidFill>
                <a:latin typeface="Cambria" pitchFamily="34" charset="0"/>
                <a:ea typeface="Cambria" pitchFamily="34" charset="-122"/>
                <a:cs typeface="Cambria" pitchFamily="34" charset="-120"/>
              </a:rPr>
              <a:t>Threats keep rising, response keeps improving, and the 90% target is finally within reach.</a:t>
            </a:r>
            <a:endParaRPr lang="en-US" sz="2200" dirty="0"/>
          </a:p>
        </p:txBody>
      </p:sp>
      <p:sp>
        <p:nvSpPr>
          <p:cNvPr id="29" name="Text 23"/>
          <p:cNvSpPr txBox="1"/>
          <p:nvPr/>
        </p:nvSpPr>
        <p:spPr>
          <a:xfrm>
            <a:off x="822960" y="5852160"/>
            <a:ext cx="6309360" cy="274320"/>
          </a:xfrm>
          <a:prstGeom prst="rect">
            <a:avLst/>
          </a:prstGeom>
          <a:noFill/>
          <a:ln/>
        </p:spPr>
        <p:txBody>
          <a:bodyPr wrap="square" lIns="0" tIns="0" rIns="0" bIns="0" rtlCol="0" anchor="t"/>
          <a:lstStyle/>
          <a:p>
            <a:pPr marL="0" indent="0">
              <a:buNone/>
            </a:pPr>
            <a:r>
              <a:rPr lang="en-US" sz="1200" i="1" dirty="0">
                <a:solidFill>
                  <a:schemeClr val="bg2"/>
                </a:solidFill>
              </a:rPr>
              <a:t>Data is synthetic: results demonstrate the method, not real-world rates.</a:t>
            </a:r>
            <a:endParaRPr lang="en-US" sz="1200" dirty="0"/>
          </a:p>
        </p:txBody>
      </p:sp>
      <p:sp>
        <p:nvSpPr>
          <p:cNvPr id="30" name="Text 24"/>
          <p:cNvSpPr txBox="1"/>
          <p:nvPr/>
        </p:nvSpPr>
        <p:spPr>
          <a:xfrm>
            <a:off x="7589520" y="4937760"/>
            <a:ext cx="3840480" cy="228600"/>
          </a:xfrm>
          <a:prstGeom prst="rect">
            <a:avLst/>
          </a:prstGeom>
          <a:noFill/>
          <a:ln/>
        </p:spPr>
        <p:txBody>
          <a:bodyPr wrap="square" lIns="0" tIns="0" rIns="0" bIns="0" rtlCol="0" anchor="t"/>
          <a:lstStyle/>
          <a:p>
            <a:pPr marL="0" indent="0">
              <a:buNone/>
            </a:pPr>
            <a:r>
              <a:rPr lang="en-US" sz="1100" b="1" kern="0" spc="100" dirty="0">
                <a:solidFill>
                  <a:schemeClr val="accent3"/>
                </a:solidFill>
              </a:rPr>
              <a:t>IN THE SUBMISSION ZIP</a:t>
            </a:r>
            <a:endParaRPr lang="en-US" sz="1100" dirty="0"/>
          </a:p>
        </p:txBody>
      </p:sp>
      <p:sp>
        <p:nvSpPr>
          <p:cNvPr id="31" name="Deliverable Dashboard (HTML)"/>
          <p:cNvSpPr/>
          <p:nvPr/>
        </p:nvSpPr>
        <p:spPr>
          <a:xfrm>
            <a:off x="7589520" y="5257800"/>
            <a:ext cx="1874520" cy="384048"/>
          </a:xfrm>
          <a:prstGeom prst="roundRect">
            <a:avLst>
              <a:gd name="adj" fmla="val 50000"/>
            </a:avLst>
          </a:prstGeom>
          <a:solidFill>
            <a:schemeClr val="tx1"/>
          </a:solidFill>
          <a:ln/>
        </p:spPr>
      </p:sp>
      <p:sp>
        <p:nvSpPr>
          <p:cNvPr id="32" name="Text 26"/>
          <p:cNvSpPr txBox="1"/>
          <p:nvPr/>
        </p:nvSpPr>
        <p:spPr>
          <a:xfrm>
            <a:off x="7589520" y="5257800"/>
            <a:ext cx="1874520" cy="384048"/>
          </a:xfrm>
          <a:prstGeom prst="rect">
            <a:avLst/>
          </a:prstGeom>
          <a:noFill/>
          <a:ln/>
        </p:spPr>
        <p:txBody>
          <a:bodyPr wrap="square" lIns="0" tIns="0" rIns="0" bIns="0" rtlCol="0" anchor="ctr"/>
          <a:lstStyle/>
          <a:p>
            <a:pPr marL="0" indent="0" algn="ctr">
              <a:buNone/>
            </a:pPr>
            <a:r>
              <a:rPr lang="en-US" sz="1300" dirty="0">
                <a:solidFill>
                  <a:schemeClr val="bg1"/>
                </a:solidFill>
              </a:rPr>
              <a:t>Dashboard (HTML)</a:t>
            </a:r>
            <a:endParaRPr lang="en-US" sz="1300" dirty="0"/>
          </a:p>
        </p:txBody>
      </p:sp>
      <p:sp>
        <p:nvSpPr>
          <p:cNvPr id="33" name="Deliverable Workbook (Excel)"/>
          <p:cNvSpPr/>
          <p:nvPr/>
        </p:nvSpPr>
        <p:spPr>
          <a:xfrm>
            <a:off x="9601200" y="5257800"/>
            <a:ext cx="1874520" cy="384048"/>
          </a:xfrm>
          <a:prstGeom prst="roundRect">
            <a:avLst>
              <a:gd name="adj" fmla="val 50000"/>
            </a:avLst>
          </a:prstGeom>
          <a:solidFill>
            <a:schemeClr val="tx1"/>
          </a:solidFill>
          <a:ln/>
        </p:spPr>
      </p:sp>
      <p:sp>
        <p:nvSpPr>
          <p:cNvPr id="34" name="Text 28"/>
          <p:cNvSpPr txBox="1"/>
          <p:nvPr/>
        </p:nvSpPr>
        <p:spPr>
          <a:xfrm>
            <a:off x="9601200" y="5257800"/>
            <a:ext cx="1874520" cy="384048"/>
          </a:xfrm>
          <a:prstGeom prst="rect">
            <a:avLst/>
          </a:prstGeom>
          <a:noFill/>
          <a:ln/>
        </p:spPr>
        <p:txBody>
          <a:bodyPr wrap="square" lIns="0" tIns="0" rIns="0" bIns="0" rtlCol="0" anchor="ctr"/>
          <a:lstStyle/>
          <a:p>
            <a:pPr marL="0" indent="0" algn="ctr">
              <a:buNone/>
            </a:pPr>
            <a:r>
              <a:rPr lang="en-US" sz="1300" dirty="0">
                <a:solidFill>
                  <a:schemeClr val="bg1"/>
                </a:solidFill>
              </a:rPr>
              <a:t>Workbook (Excel)</a:t>
            </a:r>
            <a:endParaRPr lang="en-US" sz="1300" dirty="0"/>
          </a:p>
        </p:txBody>
      </p:sp>
      <p:sp>
        <p:nvSpPr>
          <p:cNvPr id="35" name="Deliverable SQL (13 queries)"/>
          <p:cNvSpPr/>
          <p:nvPr/>
        </p:nvSpPr>
        <p:spPr>
          <a:xfrm>
            <a:off x="7589520" y="5760720"/>
            <a:ext cx="1874520" cy="384048"/>
          </a:xfrm>
          <a:prstGeom prst="roundRect">
            <a:avLst>
              <a:gd name="adj" fmla="val 50000"/>
            </a:avLst>
          </a:prstGeom>
          <a:solidFill>
            <a:schemeClr val="tx1"/>
          </a:solidFill>
          <a:ln/>
        </p:spPr>
      </p:sp>
      <p:sp>
        <p:nvSpPr>
          <p:cNvPr id="36" name="Text 30"/>
          <p:cNvSpPr txBox="1"/>
          <p:nvPr/>
        </p:nvSpPr>
        <p:spPr>
          <a:xfrm>
            <a:off x="7589520" y="5760720"/>
            <a:ext cx="1874520" cy="384048"/>
          </a:xfrm>
          <a:prstGeom prst="rect">
            <a:avLst/>
          </a:prstGeom>
          <a:noFill/>
          <a:ln/>
        </p:spPr>
        <p:txBody>
          <a:bodyPr wrap="square" lIns="0" tIns="0" rIns="0" bIns="0" rtlCol="0" anchor="ctr"/>
          <a:lstStyle/>
          <a:p>
            <a:pPr marL="0" indent="0" algn="ctr">
              <a:buNone/>
            </a:pPr>
            <a:r>
              <a:rPr lang="en-US" sz="1300" dirty="0">
                <a:solidFill>
                  <a:schemeClr val="bg1"/>
                </a:solidFill>
              </a:rPr>
              <a:t>SQL (13 queries)</a:t>
            </a:r>
            <a:endParaRPr lang="en-US" sz="1300" dirty="0"/>
          </a:p>
        </p:txBody>
      </p:sp>
      <p:sp>
        <p:nvSpPr>
          <p:cNvPr id="37" name="Deliverable Report (PDF)"/>
          <p:cNvSpPr/>
          <p:nvPr/>
        </p:nvSpPr>
        <p:spPr>
          <a:xfrm>
            <a:off x="9601200" y="5760720"/>
            <a:ext cx="1874520" cy="384048"/>
          </a:xfrm>
          <a:prstGeom prst="roundRect">
            <a:avLst>
              <a:gd name="adj" fmla="val 50000"/>
            </a:avLst>
          </a:prstGeom>
          <a:solidFill>
            <a:schemeClr val="tx1"/>
          </a:solidFill>
          <a:ln/>
        </p:spPr>
      </p:sp>
      <p:sp>
        <p:nvSpPr>
          <p:cNvPr id="38" name="Text 32"/>
          <p:cNvSpPr txBox="1"/>
          <p:nvPr/>
        </p:nvSpPr>
        <p:spPr>
          <a:xfrm>
            <a:off x="9601200" y="5760720"/>
            <a:ext cx="1874520" cy="384048"/>
          </a:xfrm>
          <a:prstGeom prst="rect">
            <a:avLst/>
          </a:prstGeom>
          <a:noFill/>
          <a:ln/>
        </p:spPr>
        <p:txBody>
          <a:bodyPr wrap="square" lIns="0" tIns="0" rIns="0" bIns="0" rtlCol="0" anchor="ctr"/>
          <a:lstStyle/>
          <a:p>
            <a:pPr marL="0" indent="0" algn="ctr">
              <a:buNone/>
            </a:pPr>
            <a:r>
              <a:rPr lang="en-US" sz="1300" dirty="0">
                <a:solidFill>
                  <a:schemeClr val="bg1"/>
                </a:solidFill>
              </a:rPr>
              <a:t>Report (PDF)</a:t>
            </a:r>
            <a:endParaRPr lang="en-US" sz="1300" dirty="0"/>
          </a:p>
        </p:txBody>
      </p:sp>
      <p:sp>
        <p:nvSpPr>
          <p:cNvPr id="39"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8</a:t>
            </a:fld>
            <a:endParaRPr lang="en-US"/>
          </a:p>
        </p:txBody>
      </p:sp>
    </p:spTree>
  </p:cSld>
  <p:clrMapOvr>
    <a:masterClrMapping/>
  </p:clrMapOvr>
</p:sld>
</file>

<file path=ppt/theme/theme1.xml><?xml version="1.0" encoding="utf-8"?>
<a:theme xmlns:a="http://schemas.openxmlformats.org/drawingml/2006/main" name="Threat Intel Dark">
  <a:themeElements>
    <a:clrScheme name="Threat Intel Dark">
      <a:dk1>
        <a:srgbClr val="07081A"/>
      </a:dk1>
      <a:lt1>
        <a:srgbClr val="FFFFFF"/>
      </a:lt1>
      <a:dk2>
        <a:srgbClr val="1B1D3A"/>
      </a:dk2>
      <a:lt2>
        <a:srgbClr val="B4B8D4"/>
      </a:lt2>
      <a:accent1>
        <a:srgbClr val="8B5CF6"/>
      </a:accent1>
      <a:accent2>
        <a:srgbClr val="EC1F8C"/>
      </a:accent2>
      <a:accent3>
        <a:srgbClr val="34D3A0"/>
      </a:accent3>
      <a:accent4>
        <a:srgbClr val="4F7BFF"/>
      </a:accent4>
      <a:accent5>
        <a:srgbClr val="F5A524"/>
      </a:accent5>
      <a:accent6>
        <a:srgbClr val="5B3AE0"/>
      </a:accent6>
      <a:hlink>
        <a:srgbClr val="4F7BFF"/>
      </a:hlink>
      <a:folHlink>
        <a:srgbClr val="8B5CF6"/>
      </a:folHlink>
    </a:clrScheme>
    <a:fontScheme name="Threat Intel Dar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1114</Words>
  <Application>Microsoft Office PowerPoint</Application>
  <PresentationFormat>Widescreen</PresentationFormat>
  <Paragraphs>144</Paragraphs>
  <Slides>8</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Threat Intel Dark</vt:lpstr>
      <vt:lpstr>Cybersecurity Threat Intelligence Dashboard</vt:lpstr>
      <vt:lpstr>From four questions to 51,600 clean records</vt:lpstr>
      <vt:lpstr>How to read the dashboard</vt:lpstr>
      <vt:lpstr>Volume nearly doubled and ransomware took share</vt:lpstr>
      <vt:lpstr>Ransomware dominates cost; origin is concentrated</vt:lpstr>
      <vt:lpstr>Response got faster; two tools do most detecting</vt:lpstr>
      <vt:lpstr>PowerPoint Presentation</vt:lpstr>
      <vt:lpstr>What to do next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Cybersecurity Threat Intelligence Dashboard</dc:title>
  <dc:subject>PptxGenJS Presentation</dc:subject>
  <dc:creator>ADSF Data Visualization Project</dc:creator>
  <cp:lastModifiedBy>Yash Karmur</cp:lastModifiedBy>
  <cp:revision>2</cp:revision>
  <dcterms:created xsi:type="dcterms:W3CDTF">2026-10-16T01:12:53Z</dcterms:created>
  <dcterms:modified xsi:type="dcterms:W3CDTF">2026-10-16T08:48:45Z</dcterms:modified>
</cp:coreProperties>
</file>